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fe3e6928c94a7c" /><Relationship Type="http://schemas.openxmlformats.org/officeDocument/2006/relationships/extended-properties" Target="/docProps/app.xml" Id="R2007da46ddfa4d60" /><Relationship Type="http://schemas.openxmlformats.org/officeDocument/2006/relationships/officeDocument" Target="/ppt/presentation.xml" Id="Rb9a4c2b63bbc44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5afe078cca4bc3"/>
  </p:sldMasterIdLst>
  <p:notesMasterIdLst>
    <p:notesMasterId xmlns:r="http://schemas.openxmlformats.org/officeDocument/2006/relationships" r:id="Re5a7a4c0e8094652"/>
  </p:notesMasterIdLst>
  <p:sldIdLst>
    <p:sldId xmlns:r="http://schemas.openxmlformats.org/officeDocument/2006/relationships" id="256" r:id="R8aa86136e30441df"/>
    <p:sldId xmlns:r="http://schemas.openxmlformats.org/officeDocument/2006/relationships" id="257" r:id="Rb7855bd999e443cf"/>
    <p:sldId xmlns:r="http://schemas.openxmlformats.org/officeDocument/2006/relationships" id="258" r:id="Rd3b0d7c1a1a84c69"/>
    <p:sldId xmlns:r="http://schemas.openxmlformats.org/officeDocument/2006/relationships" id="259" r:id="R99aaf5fd4e144e27"/>
    <p:sldId xmlns:r="http://schemas.openxmlformats.org/officeDocument/2006/relationships" id="260" r:id="R490d3cdb9f784e7a"/>
    <p:sldId xmlns:r="http://schemas.openxmlformats.org/officeDocument/2006/relationships" id="261" r:id="R53059548ca8c4950"/>
    <p:sldId xmlns:r="http://schemas.openxmlformats.org/officeDocument/2006/relationships" id="262" r:id="R3a40d7c8ebcb410c"/>
    <p:sldId xmlns:r="http://schemas.openxmlformats.org/officeDocument/2006/relationships" id="263" r:id="R446f0a7de0954557"/>
    <p:sldId xmlns:r="http://schemas.openxmlformats.org/officeDocument/2006/relationships" id="264" r:id="R99df5f873de14694"/>
    <p:sldId xmlns:r="http://schemas.openxmlformats.org/officeDocument/2006/relationships" id="265" r:id="Rbd8fdcf983f94505"/>
    <p:sldId xmlns:r="http://schemas.openxmlformats.org/officeDocument/2006/relationships" id="266" r:id="R66f538dc584d41ee"/>
    <p:sldId xmlns:r="http://schemas.openxmlformats.org/officeDocument/2006/relationships" id="267" r:id="Ra643e422ab814991"/>
    <p:sldId xmlns:r="http://schemas.openxmlformats.org/officeDocument/2006/relationships" id="268" r:id="R86829ddd656c4496"/>
    <p:sldId xmlns:r="http://schemas.openxmlformats.org/officeDocument/2006/relationships" id="269" r:id="Rf1902dd767f74845"/>
    <p:sldId xmlns:r="http://schemas.openxmlformats.org/officeDocument/2006/relationships" id="270" r:id="R3f07bec0d28849d0"/>
    <p:sldId xmlns:r="http://schemas.openxmlformats.org/officeDocument/2006/relationships" id="271" r:id="Rb15fd51e5f35496b"/>
    <p:sldId xmlns:r="http://schemas.openxmlformats.org/officeDocument/2006/relationships" id="272" r:id="R72e6aa2b22b64fc7"/>
    <p:sldId xmlns:r="http://schemas.openxmlformats.org/officeDocument/2006/relationships" id="273" r:id="R453cf9dce7a149e8"/>
    <p:sldId xmlns:r="http://schemas.openxmlformats.org/officeDocument/2006/relationships" id="274" r:id="Ra9fb72fe4bae48fb"/>
    <p:sldId xmlns:r="http://schemas.openxmlformats.org/officeDocument/2006/relationships" id="275" r:id="R0618791862484138"/>
    <p:sldId xmlns:r="http://schemas.openxmlformats.org/officeDocument/2006/relationships" id="276" r:id="R0eae21097a164cbe"/>
    <p:sldId xmlns:r="http://schemas.openxmlformats.org/officeDocument/2006/relationships" id="277" r:id="Rcf0f858da6894cd2"/>
    <p:sldId xmlns:r="http://schemas.openxmlformats.org/officeDocument/2006/relationships" id="278" r:id="R3208ec92b6804f53"/>
    <p:sldId xmlns:r="http://schemas.openxmlformats.org/officeDocument/2006/relationships" id="279" r:id="R5fb025f700a447b9"/>
    <p:sldId xmlns:r="http://schemas.openxmlformats.org/officeDocument/2006/relationships" id="280" r:id="R66f44a5b14214d5d"/>
    <p:sldId xmlns:r="http://schemas.openxmlformats.org/officeDocument/2006/relationships" id="281" r:id="R8854e603218e4238"/>
    <p:sldId xmlns:r="http://schemas.openxmlformats.org/officeDocument/2006/relationships" id="282" r:id="Rea2eb154fddf41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9f90fad7a14628" /><Relationship Type="http://schemas.openxmlformats.org/officeDocument/2006/relationships/slideMaster" Target="/ppt/slideMasters/slideMaster1.xml" Id="R415afe078cca4bc3" /><Relationship Type="http://schemas.openxmlformats.org/officeDocument/2006/relationships/notesMaster" Target="/ppt/notesMasters/notesMaster1.xml" Id="Re5a7a4c0e8094652" /><Relationship Type="http://schemas.openxmlformats.org/officeDocument/2006/relationships/presProps" Target="/ppt/presProps.xml" Id="Rb9d74b8aceb84615" /><Relationship Type="http://schemas.openxmlformats.org/officeDocument/2006/relationships/tableStyles" Target="/ppt/tableStyles.xml" Id="Rb3756eeb874241b5" /><Relationship Type="http://schemas.openxmlformats.org/officeDocument/2006/relationships/slide" Target="/ppt/slides/slide1.xml" Id="R8aa86136e30441df" /><Relationship Type="http://schemas.openxmlformats.org/officeDocument/2006/relationships/slide" Target="/ppt/slides/slide2.xml" Id="Rb7855bd999e443cf" /><Relationship Type="http://schemas.openxmlformats.org/officeDocument/2006/relationships/slide" Target="/ppt/slides/slide3.xml" Id="Rd3b0d7c1a1a84c69" /><Relationship Type="http://schemas.openxmlformats.org/officeDocument/2006/relationships/slide" Target="/ppt/slides/slide4.xml" Id="R99aaf5fd4e144e27" /><Relationship Type="http://schemas.openxmlformats.org/officeDocument/2006/relationships/slide" Target="/ppt/slides/slide5.xml" Id="R490d3cdb9f784e7a" /><Relationship Type="http://schemas.openxmlformats.org/officeDocument/2006/relationships/slide" Target="/ppt/slides/slide6.xml" Id="R53059548ca8c4950" /><Relationship Type="http://schemas.openxmlformats.org/officeDocument/2006/relationships/slide" Target="/ppt/slides/slide7.xml" Id="R3a40d7c8ebcb410c" /><Relationship Type="http://schemas.openxmlformats.org/officeDocument/2006/relationships/slide" Target="/ppt/slides/slide8.xml" Id="R446f0a7de0954557" /><Relationship Type="http://schemas.openxmlformats.org/officeDocument/2006/relationships/slide" Target="/ppt/slides/slide9.xml" Id="R99df5f873de14694" /><Relationship Type="http://schemas.openxmlformats.org/officeDocument/2006/relationships/slide" Target="/ppt/slides/slide10.xml" Id="Rbd8fdcf983f94505" /><Relationship Type="http://schemas.openxmlformats.org/officeDocument/2006/relationships/slide" Target="/ppt/slides/slide11.xml" Id="R66f538dc584d41ee" /><Relationship Type="http://schemas.openxmlformats.org/officeDocument/2006/relationships/slide" Target="/ppt/slides/slide12.xml" Id="Ra643e422ab814991" /><Relationship Type="http://schemas.openxmlformats.org/officeDocument/2006/relationships/slide" Target="/ppt/slides/slide13.xml" Id="R86829ddd656c4496" /><Relationship Type="http://schemas.openxmlformats.org/officeDocument/2006/relationships/slide" Target="/ppt/slides/slide14.xml" Id="Rf1902dd767f74845" /><Relationship Type="http://schemas.openxmlformats.org/officeDocument/2006/relationships/slide" Target="/ppt/slides/slide15.xml" Id="R3f07bec0d28849d0" /><Relationship Type="http://schemas.openxmlformats.org/officeDocument/2006/relationships/slide" Target="/ppt/slides/slide16.xml" Id="Rb15fd51e5f35496b" /><Relationship Type="http://schemas.openxmlformats.org/officeDocument/2006/relationships/slide" Target="/ppt/slides/slide17.xml" Id="R72e6aa2b22b64fc7" /><Relationship Type="http://schemas.openxmlformats.org/officeDocument/2006/relationships/slide" Target="/ppt/slides/slide18.xml" Id="R453cf9dce7a149e8" /><Relationship Type="http://schemas.openxmlformats.org/officeDocument/2006/relationships/slide" Target="/ppt/slides/slide19.xml" Id="Ra9fb72fe4bae48fb" /><Relationship Type="http://schemas.openxmlformats.org/officeDocument/2006/relationships/slide" Target="/ppt/slides/slide20.xml" Id="R0618791862484138" /><Relationship Type="http://schemas.openxmlformats.org/officeDocument/2006/relationships/slide" Target="/ppt/slides/slide21.xml" Id="R0eae21097a164cbe" /><Relationship Type="http://schemas.openxmlformats.org/officeDocument/2006/relationships/slide" Target="/ppt/slides/slide22.xml" Id="Rcf0f858da6894cd2" /><Relationship Type="http://schemas.openxmlformats.org/officeDocument/2006/relationships/slide" Target="/ppt/slides/slide23.xml" Id="R3208ec92b6804f53" /><Relationship Type="http://schemas.openxmlformats.org/officeDocument/2006/relationships/slide" Target="/ppt/slides/slide24.xml" Id="R5fb025f700a447b9" /><Relationship Type="http://schemas.openxmlformats.org/officeDocument/2006/relationships/slide" Target="/ppt/slides/slide25.xml" Id="R66f44a5b14214d5d" /><Relationship Type="http://schemas.openxmlformats.org/officeDocument/2006/relationships/slide" Target="/ppt/slides/slide26.xml" Id="R8854e603218e4238" /><Relationship Type="http://schemas.openxmlformats.org/officeDocument/2006/relationships/slide" Target="/ppt/slides/slide27.xml" Id="Rea2eb154fddf41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1d3401f58f41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9fc84967cb4d10" /><Relationship Type="http://schemas.openxmlformats.org/officeDocument/2006/relationships/notesMaster" Target="/ppt/notesMasters/notesMaster1.xml" Id="Rc36a7163e17f4a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4cf8636da84803" /><Relationship Type="http://schemas.openxmlformats.org/officeDocument/2006/relationships/notesMaster" Target="/ppt/notesMasters/notesMaster1.xml" Id="R04e4e1f6138645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13b6c11e0647ac" /><Relationship Type="http://schemas.openxmlformats.org/officeDocument/2006/relationships/notesMaster" Target="/ppt/notesMasters/notesMaster1.xml" Id="Rb6306e9f880e42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5e446af18e4f94" /><Relationship Type="http://schemas.openxmlformats.org/officeDocument/2006/relationships/notesMaster" Target="/ppt/notesMasters/notesMaster1.xml" Id="Ra5006d833bbc41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6cc1739e0f48e2" /><Relationship Type="http://schemas.openxmlformats.org/officeDocument/2006/relationships/notesMaster" Target="/ppt/notesMasters/notesMaster1.xml" Id="Rffe18dc3bf7447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f646bc363948fe" /><Relationship Type="http://schemas.openxmlformats.org/officeDocument/2006/relationships/notesMaster" Target="/ppt/notesMasters/notesMaster1.xml" Id="Ra5e2f4fe5c384f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012c4f47fc4d35" /><Relationship Type="http://schemas.openxmlformats.org/officeDocument/2006/relationships/notesMaster" Target="/ppt/notesMasters/notesMaster1.xml" Id="R696a6f599a8749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12ad245e6c4cfa" /><Relationship Type="http://schemas.openxmlformats.org/officeDocument/2006/relationships/notesMaster" Target="/ppt/notesMasters/notesMaster1.xml" Id="R71a480149cee4a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a2b03451774482" /><Relationship Type="http://schemas.openxmlformats.org/officeDocument/2006/relationships/notesMaster" Target="/ppt/notesMasters/notesMaster1.xml" Id="R5e645c72b5c14d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1e56ca2d804f49" /><Relationship Type="http://schemas.openxmlformats.org/officeDocument/2006/relationships/notesMaster" Target="/ppt/notesMasters/notesMaster1.xml" Id="R0255f302c5dd4a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885f669d714b7e" /><Relationship Type="http://schemas.openxmlformats.org/officeDocument/2006/relationships/notesMaster" Target="/ppt/notesMasters/notesMaster1.xml" Id="R3acf5766fb6545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72200cd1f544d8" /><Relationship Type="http://schemas.openxmlformats.org/officeDocument/2006/relationships/notesMaster" Target="/ppt/notesMasters/notesMaster1.xml" Id="R5ff14b7d79204b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c6de4ba4f34fe9" /><Relationship Type="http://schemas.openxmlformats.org/officeDocument/2006/relationships/notesMaster" Target="/ppt/notesMasters/notesMaster1.xml" Id="R4a51cf55fe824e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0274e34916455d" /><Relationship Type="http://schemas.openxmlformats.org/officeDocument/2006/relationships/notesMaster" Target="/ppt/notesMasters/notesMaster1.xml" Id="R18131f08c57d45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50045e00de4da8" /><Relationship Type="http://schemas.openxmlformats.org/officeDocument/2006/relationships/notesMaster" Target="/ppt/notesMasters/notesMaster1.xml" Id="Rc86c09854e2b46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f719235433d4b5f" /><Relationship Type="http://schemas.openxmlformats.org/officeDocument/2006/relationships/notesMaster" Target="/ppt/notesMasters/notesMaster1.xml" Id="Rb6a7862eac8f40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57fb62632944754" /><Relationship Type="http://schemas.openxmlformats.org/officeDocument/2006/relationships/notesMaster" Target="/ppt/notesMasters/notesMaster1.xml" Id="Rcf5c8ea98a1644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8698734a08b40ae" /><Relationship Type="http://schemas.openxmlformats.org/officeDocument/2006/relationships/notesMaster" Target="/ppt/notesMasters/notesMaster1.xml" Id="R6680289ac56e452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440c4b5daad4001" /><Relationship Type="http://schemas.openxmlformats.org/officeDocument/2006/relationships/notesMaster" Target="/ppt/notesMasters/notesMaster1.xml" Id="Rfc5ce9914b594a2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17333b571c447b7" /><Relationship Type="http://schemas.openxmlformats.org/officeDocument/2006/relationships/notesMaster" Target="/ppt/notesMasters/notesMaster1.xml" Id="Rd5e396c60127440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d04b3eb66fc49a7" /><Relationship Type="http://schemas.openxmlformats.org/officeDocument/2006/relationships/notesMaster" Target="/ppt/notesMasters/notesMaster1.xml" Id="R8e982029492c4b5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ed331760ab54dfe" /><Relationship Type="http://schemas.openxmlformats.org/officeDocument/2006/relationships/notesMaster" Target="/ppt/notesMasters/notesMaster1.xml" Id="R9e0d4ded40b246d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77428cfc49f45e7" /><Relationship Type="http://schemas.openxmlformats.org/officeDocument/2006/relationships/notesMaster" Target="/ppt/notesMasters/notesMaster1.xml" Id="R6a58dd4ab8f7475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8e50cfed90d4c87" /><Relationship Type="http://schemas.openxmlformats.org/officeDocument/2006/relationships/notesMaster" Target="/ppt/notesMasters/notesMaster1.xml" Id="R58c5bea01b0142d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51bdf38ffe84f3b" /><Relationship Type="http://schemas.openxmlformats.org/officeDocument/2006/relationships/notesMaster" Target="/ppt/notesMasters/notesMaster1.xml" Id="R3f0d8ef3072f4e4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68ad1124f4747d4" /><Relationship Type="http://schemas.openxmlformats.org/officeDocument/2006/relationships/notesMaster" Target="/ppt/notesMasters/notesMaster1.xml" Id="Rfcea88835a88441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f2e6d225f414662" /><Relationship Type="http://schemas.openxmlformats.org/officeDocument/2006/relationships/notesMaster" Target="/ppt/notesMasters/notesMaster1.xml" Id="Rfa6025beb9d641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Cover image: AI-generated illustration created for this presentation. It is illustrative and not a photograph of the demonstrated plant. Group members are listed alphabetically.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Sources: https://github.com/gchinar/apache-flume-oilgas-group2 and https://flume.apache.org/FlumeUserGuide.html. Technical implementation follows oilgas/simulate_sensor.ps1, oilgas/app/dashboard.py, and apache-flume-1.11.0-bin/conf/oilgas.conf.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Sources: https://github.com/gchinar/apache-flume-oilgas-group2 and https://flume.apache.org/FlumeUserGuide.html. Technical implementation follows oilgas/simulate_sensor.ps1, oilgas/app/dashboard.py, and apache-flume-1.11.0-bin/conf/oilgas.conf.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Sources: https://github.com/gchinar/apache-flume-oilgas-group2 and https://flume.apache.org/FlumeUserGuide.html. Technical implementation follows oilgas/simulate_sensor.ps1, oilgas/app/dashboard.py, and apache-flume-1.11.0-bin/conf/oilgas.conf.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Sources: https://github.com/gchinar/apache-flume-oilgas-group2 and https://flume.apache.org/FlumeUserGuide.html. Technical implementation follows oilgas/simulate_sensor.ps1, oilgas/app/dashboard.py, and apache-flume-1.11.0-bin/conf/oilgas.conf.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Sources: https://github.com/gchinar/apache-flume-oilgas-group2 and https://flume.apache.org/FlumeUserGuide.html. Technical implementation follows oilgas/simulate_sensor.ps1, oilgas/app/dashboard.py, and apache-flume-1.11.0-bin/conf/oilgas.conf.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Sources: https://github.com/gchinar/apache-flume-oilgas-group2 and https://flume.apache.org/FlumeUserGuide.html. Technical implementation follows oilgas/simulate_sensor.ps1, oilgas/app/dashboard.py, and apache-flume-1.11.0-bin/conf/oilgas.conf.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Sources: https://github.com/gchinar/apache-flume-oilgas-group2 and https://flume.apache.org/FlumeUserGuide.html. Technical implementation follows oilgas/simulate_sensor.ps1, oilgas/app/dashboard.py, and apache-flume-1.11.0-bin/conf/oilgas.conf.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Sources: https://github.com/gchinar/apache-flume-oilgas-group2 and https://flume.apache.org/FlumeUserGuide.html. Technical implementation follows oilgas/simulate_sensor.ps1, oilgas/app/dashboard.py, and apache-flume-1.11.0-bin/conf/oilgas.conf. CSV row is an illustrative schema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Sources: https://github.com/gchinar/apache-flume-oilgas-group2 and https://flume.apache.org/FlumeUserGuide.html. Technical implementation follows oilgas/simulate_sensor.ps1, oilgas/app/dashboard.py, and apache-flume-1.11.0-bin/conf/oilgas.conf.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Sources: https://github.com/gchinar/apache-flume-oilgas-group2 and https://flume.apache.org/FlumeUserGuide.html. Technical implementation follows oilgas/simulate_sensor.ps1, oilgas/app/dashboard.py, and apache-flume-1.11.0-bin/conf/oilgas.conf.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Sources: https://github.com/gchinar/apache-flume-oilgas-group2 and https://flume.apache.org/FlumeUserGuide.html. Technical implementation follows oilgas/simulate_sensor.ps1, oilgas/app/dashboard.py, and apache-flume-1.11.0-bin/conf/oilgas.conf.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Sources: https://github.com/gchinar/apache-flume-oilgas-group2 and https://flume.apache.org/FlumeUserGuide.html. Technical implementation follows oilgas/simulate_sensor.ps1, oilgas/app/dashboard.py, and apache-flume-1.11.0-bin/conf/oilgas.conf.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Sources: https://github.com/gchinar/apache-flume-oilgas-group2 and https://flume.apache.org/FlumeUserGuide.html. Technical implementation follows oilgas/simulate_sensor.ps1, oilgas/app/dashboard.py, and apache-flume-1.11.0-bin/conf/oilgas.conf.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Sources: https://github.com/gchinar/apache-flume-oilgas-group2 and https://flume.apache.org/FlumeUserGuide.html. Technical implementation follows oilgas/simulate_sensor.ps1, oilgas/app/dashboard.py, and apache-flume-1.11.0-bin/conf/oilgas.conf.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Sources: https://github.com/gchinar/apache-flume-oilgas-group2 and https://flume.apache.org/FlumeUserGuide.html. Technical implementation follows oilgas/simulate_sensor.ps1, oilgas/app/dashboard.py, and apache-flume-1.11.0-bin/conf/oilgas.conf.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Screenshots supplied in the user presentation. Demonstration illustrations show the visible equipment values and interface states.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Screenshots supplied in the user presentation. Demonstration illustrations show the visible equipment values and interface states.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Screenshots supplied in the user presentation. Demonstration illustrations show the visible equipment values and interface states.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Screenshots supplied in the user presentation. Demonstration illustrations show the visible equipment values and interface states.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Screenshots supplied in the user presentation. Demonstration illustrations show the visible equipment values and interface states.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Screenshots supplied in the user presentation. Demonstration illustrations show the visible equipment values and interface states.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Sources: https://github.com/gchinar/apache-flume-oilgas-group2 and https://flume.apache.org/FlumeUserGuide.html. Technical implementation follows oilgas/simulate_sensor.ps1, oilgas/app/dashboard.py, and apache-flume-1.11.0-bin/conf/oilgas.conf. Counts calculated from the supplied sensor_stream.txt and 43 output files. These are sample-dataset results, not a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Sources: https://github.com/gchinar/apache-flume-oilgas-group2 and https://flume.apache.org/FlumeUserGuide.html. Technical implementation follows oilgas/simulate_sensor.ps1, oilgas/app/dashboard.py, and apache-flume-1.11.0-bin/conf/oilgas.conf.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Conceptual architecture illustration supplied by the user. Cloud integration is future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Sources: https://github.com/gchinar/apache-flume-oilgas-group2 and https://flume.apache.org/FlumeUserGuide.html. Technical implementation follows oilgas/simulate_sensor.ps1, oilgas/app/dashboard.py, and apache-flume-1.11.0-bin/conf/oilgas.conf.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Sources: https://github.com/gchinar/apache-flume-oilgas-group2 and https://flume.apache.org/FlumeUserGuide.html. Technical implementation follows oilgas/simulate_sensor.ps1, oilgas/app/dashboard.py, and apache-flume-1.11.0-bin/conf/oilgas.conf.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ce9fc86828427d" /></Relationships>
</file>

<file path=ppt/slideLayouts/slideLayout1.xml><?xml version="1.0" encoding="utf-8"?>
<p:sldLayout xmlns:p="http://schemas.openxmlformats.org/presentationml/2006/main" showMasterSp="1" showMasterPhAnim="1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237A41D-799A-4297-9BD8-9324BABFF0BF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ee7eb989274b2a" /><Relationship Type="http://schemas.openxmlformats.org/officeDocument/2006/relationships/slideLayout" Target="/ppt/slideLayouts/slideLayout1.xml" Id="R5233a65867b54aa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Text">
            <a:extLst xmlns:a="http://schemas.openxmlformats.org/drawingml/2006/main">
              <a:ext uri="{FF2B5EF4-FFF2-40B4-BE49-F238E27FC236}">
                <a16:creationId xmlns:a16="http://schemas.microsoft.com/office/drawing/2014/main" id="{241EE3AB-DD55-42F6-AC15-23E60F4263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844675"/>
            <a:ext cx="10363200" cy="20415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Title Text</a:t>
            </a:r>
          </a:p>
        </p:txBody>
      </p:sp>
      <p:sp>
        <p:nvSpPr>
          <p:cNvPr id="3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DFF71C75-5B7D-4AB5-9743-F61D3D183E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828800" y="3886200"/>
            <a:ext cx="8534400" cy="2971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  <a:r>
              <a:t>Body Level One</a:t>
            </a:r>
          </a:p>
          <a:p xmlns:a="http://schemas.openxmlformats.org/drawingml/2006/main">
            <a:pPr lvl="1">
              <a:buNone/>
            </a:pPr>
            <a:r>
              <a:t>Body Level Two</a:t>
            </a:r>
          </a:p>
          <a:p xmlns:a="http://schemas.openxmlformats.org/drawingml/2006/main">
            <a:pPr lvl="2">
              <a:buNone/>
            </a:pPr>
            <a:r>
              <a:t>Body Level Three</a:t>
            </a:r>
          </a:p>
          <a:p xmlns:a="http://schemas.openxmlformats.org/drawingml/2006/main">
            <a:pPr lvl="3">
              <a:buNone/>
            </a:pPr>
            <a:r>
              <a:t>Body Level Four</a:t>
            </a:r>
          </a:p>
          <a:p xmlns:a="http://schemas.openxmlformats.org/drawingml/2006/main">
            <a:pPr lvl="4">
              <a:buNone/>
            </a:pPr>
            <a:r>
              <a:t>Body Level Five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213866D-6CEE-4103-9DEA-3474F91E5FD0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463948" y="6221732"/>
            <a:ext cx="273653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45718" tIns="45718" rIns="45718" bIns="45718" anchor="ctr">
            <a:spAutoFit/>
          </a:bodyPr>
          <a:lstStyle xmlns:a="http://schemas.openxmlformats.org/drawingml/2006/main">
            <a:lvl1pPr algn="r">
              <a:buNone/>
              <a:defRPr sz="120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33a65867b54aa6"/>
  </p:sldLayoutIdLst>
  <p:txStyles>
    <p:titleStyle>
      <a:lvl1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1pPr>
      <a:lvl2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28600" marR="0" indent="-228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1pPr>
      <a:lvl2pPr xmlns:a="http://schemas.openxmlformats.org/drawingml/2006/main" marL="228600" marR="0" indent="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2pPr>
      <a:lvl3pPr xmlns:a="http://schemas.openxmlformats.org/drawingml/2006/main" marL="228600" marR="0" indent="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3pPr>
      <a:lvl4pPr xmlns:a="http://schemas.openxmlformats.org/drawingml/2006/main" marL="228600" marR="0" indent="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4pPr>
      <a:lvl5pPr xmlns:a="http://schemas.openxmlformats.org/drawingml/2006/main" marL="228600" marR="0" indent="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5pPr>
      <a:lvl6pPr xmlns:a="http://schemas.openxmlformats.org/drawingml/2006/main" marL="26416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6pPr>
      <a:lvl7pPr xmlns:a="http://schemas.openxmlformats.org/drawingml/2006/main" marL="30988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7pPr>
      <a:lvl8pPr xmlns:a="http://schemas.openxmlformats.org/drawingml/2006/main" marL="35560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8pPr>
      <a:lvl9pPr xmlns:a="http://schemas.openxmlformats.org/drawingml/2006/main" marL="40132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9pPr>
    </p:bodyStyle>
    <p:otherStyle>
      <a:lvl1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43b434503435f" /><Relationship Type="http://schemas.openxmlformats.org/officeDocument/2006/relationships/image" Target="/ppt/media/image.png" Id="R95bc05d8e233474d" /><Relationship Type="http://schemas.openxmlformats.org/officeDocument/2006/relationships/notesSlide" Target="/ppt/notesSlides/notesSlide1.xml" Id="R1fbcb98ceecb40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2a83d02e24f9b" /><Relationship Type="http://schemas.openxmlformats.org/officeDocument/2006/relationships/image" Target="/ppt/media/image2.png" Id="R36639a83abc54c79" /><Relationship Type="http://schemas.openxmlformats.org/officeDocument/2006/relationships/hyperlink" Target="https://flume.apache.org/" TargetMode="External" Id="R52e9ce6c1e0b4073" /><Relationship Type="http://schemas.openxmlformats.org/officeDocument/2006/relationships/notesSlide" Target="/ppt/notesSlides/notesSlide2.xml" Id="R36fcd077c90d4f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d9dff2aff4108" /><Relationship Type="http://schemas.openxmlformats.org/officeDocument/2006/relationships/image" Target="/ppt/media/image3.png" Id="R9d4f1778f532493d" /><Relationship Type="http://schemas.openxmlformats.org/officeDocument/2006/relationships/hyperlink" Target="https://github.com/gchinar/apache-flume-oilgas-group2/tree/main" TargetMode="External" Id="R15f11e9359374ed4" /><Relationship Type="http://schemas.openxmlformats.org/officeDocument/2006/relationships/notesSlide" Target="/ppt/notesSlides/notesSlide3.xml" Id="R8bf234727ed947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9cf65324449ae" /><Relationship Type="http://schemas.openxmlformats.org/officeDocument/2006/relationships/hyperlink" Target="https://drive.google.com/file/d/104lMZOOLLpyehxso54ofDH3_9QadWgt3/view?usp=sharing" TargetMode="External" Id="Rae25042f14db40cd" /><Relationship Type="http://schemas.openxmlformats.org/officeDocument/2006/relationships/image" Target="/ppt/media/image4.png" Id="R6d80090c3b3a491f" /><Relationship Type="http://schemas.openxmlformats.org/officeDocument/2006/relationships/hyperlink" Target="https://www.youtube.com/watch?v=htt_mWKA9J4" TargetMode="External" Id="R77e18404a32a4734" /><Relationship Type="http://schemas.openxmlformats.org/officeDocument/2006/relationships/notesSlide" Target="/ppt/notesSlides/notesSlide4.xml" Id="R91fa31b0f44549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0eb1f68a44958" /><Relationship Type="http://schemas.openxmlformats.org/officeDocument/2006/relationships/notesSlide" Target="/ppt/notesSlides/notesSlide5.xml" Id="R8a05b1cbb23346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0cb0f2dde4468" /><Relationship Type="http://schemas.openxmlformats.org/officeDocument/2006/relationships/notesSlide" Target="/ppt/notesSlides/notesSlide6.xml" Id="R34e934fd28d744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72ae508ed4b5f" /><Relationship Type="http://schemas.openxmlformats.org/officeDocument/2006/relationships/notesSlide" Target="/ppt/notesSlides/notesSlide7.xml" Id="R503af47e00114a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a00152fb34bfd" /><Relationship Type="http://schemas.openxmlformats.org/officeDocument/2006/relationships/notesSlide" Target="/ppt/notesSlides/notesSlide8.xml" Id="R461cea9d397a4f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f56f761fc4be5" /><Relationship Type="http://schemas.openxmlformats.org/officeDocument/2006/relationships/notesSlide" Target="/ppt/notesSlides/notesSlide9.xml" Id="Rad0a9516ef2540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2e98a83f14d54" /><Relationship Type="http://schemas.openxmlformats.org/officeDocument/2006/relationships/notesSlide" Target="/ppt/notesSlides/notesSlide10.xml" Id="R19fd4f519f7a49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184ace7db4e16" /><Relationship Type="http://schemas.openxmlformats.org/officeDocument/2006/relationships/notesSlide" Target="/ppt/notesSlides/notesSlide11.xml" Id="R5cb2a8a66b654d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081b9c3514da0" /><Relationship Type="http://schemas.openxmlformats.org/officeDocument/2006/relationships/notesSlide" Target="/ppt/notesSlides/notesSlide12.xml" Id="Rf6fd94a9090549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3fbb1323945a0" /><Relationship Type="http://schemas.openxmlformats.org/officeDocument/2006/relationships/notesSlide" Target="/ppt/notesSlides/notesSlide13.xml" Id="R19a524554f634c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c6dac1fe6481b" /><Relationship Type="http://schemas.openxmlformats.org/officeDocument/2006/relationships/notesSlide" Target="/ppt/notesSlides/notesSlide14.xml" Id="R1c5175d8eb814d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ef4729ec84e6d" /><Relationship Type="http://schemas.openxmlformats.org/officeDocument/2006/relationships/notesSlide" Target="/ppt/notesSlides/notesSlide15.xml" Id="Rd1ccec41f56f45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90d26690b451e" /><Relationship Type="http://schemas.openxmlformats.org/officeDocument/2006/relationships/notesSlide" Target="/ppt/notesSlides/notesSlide16.xml" Id="Rc6b5ec2a650544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5b99202b64fcc" /><Relationship Type="http://schemas.openxmlformats.org/officeDocument/2006/relationships/hyperlink" Target="https://drive.google.com/file/d/104lMZOOLLpyehxso54ofDH3_9QadWgt3/view?usp=sharing" TargetMode="External" Id="R3b020c0536304152" /><Relationship Type="http://schemas.openxmlformats.org/officeDocument/2006/relationships/hyperlink" Target="https://www.youtube.com/watch?v=htt_mWKA9J4" TargetMode="External" Id="Rf95ed3ab50534089" /><Relationship Type="http://schemas.openxmlformats.org/officeDocument/2006/relationships/notesSlide" Target="/ppt/notesSlides/notesSlide17.xml" Id="R92726fdbb008496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aaf56f0f545a6" /><Relationship Type="http://schemas.openxmlformats.org/officeDocument/2006/relationships/image" Target="/ppt/media/image5.png" Id="Rd74618cef0414417" /><Relationship Type="http://schemas.openxmlformats.org/officeDocument/2006/relationships/notesSlide" Target="/ppt/notesSlides/notesSlide18.xml" Id="Rae7d5a3e0043426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304c9e83548e7" /><Relationship Type="http://schemas.openxmlformats.org/officeDocument/2006/relationships/image" Target="/ppt/media/image6.png" Id="R66d65c927dbb49ef" /><Relationship Type="http://schemas.openxmlformats.org/officeDocument/2006/relationships/notesSlide" Target="/ppt/notesSlides/notesSlide19.xml" Id="R1d43562070984e7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e6b03fbb84f5e" /><Relationship Type="http://schemas.openxmlformats.org/officeDocument/2006/relationships/image" Target="/ppt/media/image7.png" Id="R4d7e291afbe54876" /><Relationship Type="http://schemas.openxmlformats.org/officeDocument/2006/relationships/notesSlide" Target="/ppt/notesSlides/notesSlide20.xml" Id="Rc241f74096de4d5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4efae14064ebd" /><Relationship Type="http://schemas.openxmlformats.org/officeDocument/2006/relationships/image" Target="/ppt/media/image8.png" Id="R72abe9ef43374bcc" /><Relationship Type="http://schemas.openxmlformats.org/officeDocument/2006/relationships/notesSlide" Target="/ppt/notesSlides/notesSlide21.xml" Id="R0ef5770ed5784e3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5aa737de64857" /><Relationship Type="http://schemas.openxmlformats.org/officeDocument/2006/relationships/image" Target="/ppt/media/image9.png" Id="Rd990569f95fd4971" /><Relationship Type="http://schemas.openxmlformats.org/officeDocument/2006/relationships/notesSlide" Target="/ppt/notesSlides/notesSlide22.xml" Id="Rba9754ba93704d7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28ee0bc6b4267" /><Relationship Type="http://schemas.openxmlformats.org/officeDocument/2006/relationships/chart" Target="/ppt/slides/charts/chart1.xml" Id="R5045d71bc56246e9" /><Relationship Type="http://schemas.openxmlformats.org/officeDocument/2006/relationships/notesSlide" Target="/ppt/notesSlides/notesSlide23.xml" Id="R3b64bf19ab7848a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f556711fc416d" /><Relationship Type="http://schemas.openxmlformats.org/officeDocument/2006/relationships/notesSlide" Target="/ppt/notesSlides/notesSlide24.xml" Id="Rb3438f949ffe451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ad15a193f40dc" /><Relationship Type="http://schemas.openxmlformats.org/officeDocument/2006/relationships/image" Target="/ppt/media/image.jpeg" Id="Rbdd20a3f45ea446c" /><Relationship Type="http://schemas.openxmlformats.org/officeDocument/2006/relationships/notesSlide" Target="/ppt/notesSlides/notesSlide25.xml" Id="R2cf649a2ec4a4b7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63c0bc3a24613" /><Relationship Type="http://schemas.openxmlformats.org/officeDocument/2006/relationships/notesSlide" Target="/ppt/notesSlides/notesSlide26.xml" Id="Rb61852b892a4438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68e6bb2564808" /><Relationship Type="http://schemas.openxmlformats.org/officeDocument/2006/relationships/hyperlink" Target="https://github.com/gchinar/apache-flume-oilgas-group2" TargetMode="External" Id="Rca80851712ab4eeb" /><Relationship Type="http://schemas.openxmlformats.org/officeDocument/2006/relationships/hyperlink" Target="https://flume.apache.org/FlumeUserGuide.html" TargetMode="External" Id="Rc5a971d1eced4098" /><Relationship Type="http://schemas.openxmlformats.org/officeDocument/2006/relationships/notesSlide" Target="/ppt/notesSlides/notesSlide27.xml" Id="Rd1552174aab84dbb" /></Relationships>
</file>

<file path=ppt/slides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235942"/>
          <c:y val="0.0390056"/>
          <c:w val="0.745424"/>
          <c:h val="0.89560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Events</c:v>
                </c:pt>
              </c:strCache>
            </c:strRef>
          </c:tx>
          <c:spPr>
            <a:solidFill>
              <a:srgbClr val="0D8F9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71B2A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Separator V-101</c:v>
                </c:pt>
                <c:pt idx="1">
                  <c:v>Heat Exchanger E-101</c:v>
                </c:pt>
                <c:pt idx="2">
                  <c:v>Gas Compressor C-101</c:v>
                </c:pt>
                <c:pt idx="3">
                  <c:v>Crude Oil Pump P-101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148.000000</c:v>
                </c:pt>
                <c:pt idx="1">
                  <c:v>150.000000</c:v>
                </c:pt>
                <c:pt idx="2">
                  <c:v>162.000000</c:v>
                </c:pt>
                <c:pt idx="3">
                  <c:v>184.000000</c:v>
                </c:pt>
              </c:numCache>
            </c:numRef>
          </c:val>
        </c:ser>
        <c:gapWidth val="48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D4D4D4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100" u="none">
                <a:solidFill>
                  <a:srgbClr val="5E6D78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b"/>
        <c:numFmt formatCode="0" sourceLinked="0"/>
        <c:majorTickMark val="none"/>
        <c:minorTickMark val="none"/>
        <c:tickLblPos val="high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100" u="none">
                <a:solidFill>
                  <a:srgbClr val="182833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47.5"/>
        <c:minorUnit val="23.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slides/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c05d8e233474d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EB88C3-63CE-40C4-AADB-FF5C20C1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24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A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>
                <a:latin typeface="Calibri"/>
                <a:ea typeface="Calibri"/>
                <a:cs typeface="Calibri"/>
              </a:defRPr>
            </a:pPr>
          </a:p>
        </p:txBody>
      </p:sp>
      <p:sp>
        <p:nvSpPr>
          <p:cNvPr id="2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2DC4383-A618-48A2-8528-24E800D6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23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8C8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>
                <a:latin typeface="Calibri"/>
                <a:ea typeface="Calibri"/>
                <a:cs typeface="Calibri"/>
              </a:defRPr>
            </a:pPr>
          </a:p>
        </p:txBody>
      </p:sp>
      <p:sp>
        <p:nvSpPr>
          <p:cNvPr id="2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FBB186F-0FD8-4046-83EF-F063437E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5238750" cy="176397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Architecture and Streaming</a:t>
            </a:r>
          </a:p>
          <a:p xmlns:a="http://schemas.openxmlformats.org/drawingml/2006/main">
            <a:pPr>
              <a:lnSpc>
                <a:spcPct val="96000"/>
              </a:lnSpc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using Apache Flume</a:t>
            </a:r>
          </a:p>
        </p:txBody>
      </p:sp>
      <p:sp>
        <p:nvSpPr>
          <p:cNvPr id="2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FAD1E77-7136-4497-9B1D-293BFA36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399"/>
            <a:ext cx="5143500" cy="32106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2200" b="1">
                <a:solidFill>
                  <a:srgbClr val="3CC8C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Oil &amp; Gas Equipment Monitoring</a:t>
            </a:r>
          </a:p>
        </p:txBody>
      </p:sp>
      <p:sp>
        <p:nvSpPr>
          <p:cNvPr id="2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100A7A-B0F1-43FD-A401-1F27B667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476750" cy="22195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Assignment 1, Group 2</a:t>
            </a:r>
          </a:p>
        </p:txBody>
      </p:sp>
      <p:sp>
        <p:nvSpPr>
          <p:cNvPr id="2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9D54B60-62CB-4E34-B75C-F8642C82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399"/>
            <a:ext cx="4381500" cy="100633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00">
                <a:solidFill>
                  <a:srgbClr val="C5D5DE"/>
                </a:solidFill>
                <a:latin typeface="Arial"/>
                <a:ea typeface="Arial"/>
                <a:cs typeface="Arial"/>
              </a:defRPr>
            </a:pPr>
            <a:r>
              <a:t>Amit Kumar Jha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300">
                <a:solidFill>
                  <a:srgbClr val="C5D5DE"/>
                </a:solidFill>
                <a:latin typeface="Arial"/>
                <a:ea typeface="Arial"/>
                <a:cs typeface="Arial"/>
              </a:defRPr>
            </a:pPr>
            <a:r>
              <a:t>Archana Yadav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300">
                <a:solidFill>
                  <a:srgbClr val="C5D5DE"/>
                </a:solidFill>
                <a:latin typeface="Arial"/>
                <a:ea typeface="Arial"/>
                <a:cs typeface="Arial"/>
              </a:defRPr>
            </a:pPr>
            <a:r>
              <a:t>Chinar Goel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300">
                <a:solidFill>
                  <a:srgbClr val="C5D5DE"/>
                </a:solidFill>
                <a:latin typeface="Arial"/>
                <a:ea typeface="Arial"/>
                <a:cs typeface="Arial"/>
              </a:defRPr>
            </a:pPr>
            <a:r>
              <a:t>Satya Prakash Gupta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300">
                <a:solidFill>
                  <a:srgbClr val="C5D5DE"/>
                </a:solidFill>
                <a:latin typeface="Arial"/>
                <a:ea typeface="Arial"/>
                <a:cs typeface="Arial"/>
              </a:defRPr>
            </a:pPr>
            <a:r>
              <a:t>Tanya Kapoor</a:t>
            </a:r>
          </a:p>
        </p:txBody>
      </p:sp>
      <p:sp>
        <p:nvSpPr>
          <p:cNvPr id="2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E8A1CF0-6C77-4E40-899C-62BDEC43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47675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200">
                <a:solidFill>
                  <a:srgbClr val="91A9B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BITS Pilani, 12 September 2026</a:t>
            </a:r>
          </a:p>
        </p:txBody>
      </p:sp>
      <p:sp>
        <p:nvSpPr>
          <p:cNvPr id="2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BB26532-FA34-4831-9D2A-D612168B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1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3CC8C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2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D1E913C-C9E9-49D5-8D79-732338D1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8C8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>
                <a:latin typeface="Calibri"/>
                <a:ea typeface="Calibri"/>
                <a:cs typeface="Calibri"/>
              </a:defRPr>
            </a:pPr>
          </a:p>
        </p:txBody>
      </p:sp>
      <p:sp>
        <p:nvSpPr>
          <p:cNvPr id="30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5BBEDAF-EB48-461E-B67D-B8CCAAE5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1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879A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3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DAC1029-742C-45D8-8EA0-38A92EE5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1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879A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32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38390AC-58FE-4147-8C21-1C7ADB7C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1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879A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33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3EA4892-2B9D-48CC-ACB4-83E4B124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1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879A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34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1D30F68-A295-4D69-8DFB-5A0B3B19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1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879A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35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F757247-FA71-41F4-83B3-0E7A2BD9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1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879A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36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26CA864-B987-4C17-B814-1A7D67DC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1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879A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5C30CA-22E4-42B7-80D5-9C9F2716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D2E7E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D2E7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53843686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9" name="Pictur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39a83abc54c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94732" y="285750"/>
            <a:ext cx="9602534" cy="17907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4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5FB02D5-E811-4FF0-B8F4-B886A4FA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291B76A-A6F2-461C-9CDD-B54EEBE4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820400" cy="2960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21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Stream Processing and Analytics Course</a:t>
            </a:r>
          </a:p>
        </p:txBody>
      </p:sp>
      <p:sp>
        <p:nvSpPr>
          <p:cNvPr id="4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6B6FCF0-6F14-4C41-B3A3-B9E3523D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82040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2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CCZG556</a:t>
            </a:r>
          </a:p>
        </p:txBody>
      </p:sp>
      <p:sp>
        <p:nvSpPr>
          <p:cNvPr id="4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2551E4D-B437-4865-B883-D45D3466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49"/>
            <a:ext cx="10820400" cy="39476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28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Apache Flume: Oil &amp; Gas Equipment Monitoring</a:t>
            </a:r>
          </a:p>
        </p:txBody>
      </p:sp>
      <p:sp>
        <p:nvSpPr>
          <p:cNvPr id="4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55CCC08-36E3-46D9-9841-31A9EE3F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33350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Assignment</a:t>
            </a:r>
          </a:p>
        </p:txBody>
      </p:sp>
      <p:sp>
        <p:nvSpPr>
          <p:cNvPr id="4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A2662FE-1C95-4A1A-A902-CFA5E6D3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098"/>
            <a:ext cx="914400" cy="46889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3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</a:t>
            </a:r>
          </a:p>
        </p:txBody>
      </p:sp>
      <p:sp>
        <p:nvSpPr>
          <p:cNvPr id="4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704903E-D100-4F06-ACB1-FB03AE86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43350"/>
            <a:ext cx="104775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Group</a:t>
            </a:r>
          </a:p>
        </p:txBody>
      </p:sp>
      <p:sp>
        <p:nvSpPr>
          <p:cNvPr id="4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4C85A04-04A8-4E7F-B7AC-AA7704B7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29098"/>
            <a:ext cx="914400" cy="46889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3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</a:t>
            </a:r>
          </a:p>
        </p:txBody>
      </p:sp>
      <p:sp>
        <p:nvSpPr>
          <p:cNvPr id="4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67F575A-6832-4FE5-9ADA-F0ACC739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219075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Platform</a:t>
            </a:r>
          </a:p>
        </p:txBody>
      </p:sp>
      <p:sp>
        <p:nvSpPr>
          <p:cNvPr id="50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8C01F2F-1E7F-43D1-A2F7-1C9605D4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3143250" cy="24002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500" b="1">
                <a:solidFill>
                  <a:srgbClr val="0867C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 u="sng">
                <a:solidFill>
                  <a:srgbClr val="0563C1"/>
                </a:solidFill>
                <a:latin typeface="Arial"/>
                <a:ea typeface="Arial"/>
                <a:cs typeface="Arial"/>
                <a:hlinkClick xmlns:r="http://schemas.openxmlformats.org/officeDocument/2006/relationships" r:id="R52e9ce6c1e0b4073"/>
              </a:rPr>
              <a:t>https://flume.apache.org/</a:t>
            </a:r>
          </a:p>
        </p:txBody>
      </p:sp>
      <p:sp>
        <p:nvSpPr>
          <p:cNvPr id="51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D6E092DE-A688-4DBB-AED3-B8784221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71948" y="3867149"/>
            <a:ext cx="3" cy="238125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86C4E29-0346-4982-B4B3-BA798947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67148"/>
            <a:ext cx="6191250" cy="24693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7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Group members, alphabetical order</a:t>
            </a:r>
          </a:p>
        </p:txBody>
      </p:sp>
      <p:sp>
        <p:nvSpPr>
          <p:cNvPr id="53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42D77C6-7073-4091-8DB7-86F9F481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24350"/>
            <a:ext cx="43815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2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54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57A2DE2-AC2D-47B6-9921-C1B8D7D6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24348"/>
            <a:ext cx="3524250" cy="19738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400" b="1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Amit Kumar Jha</a:t>
            </a:r>
          </a:p>
        </p:txBody>
      </p:sp>
      <p:sp>
        <p:nvSpPr>
          <p:cNvPr id="55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D033A9A-7AD4-4842-84EA-B6F46A13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24350"/>
            <a:ext cx="238125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2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2025MT03001</a:t>
            </a:r>
          </a:p>
        </p:txBody>
      </p:sp>
      <p:sp>
        <p:nvSpPr>
          <p:cNvPr id="56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1647A82-0384-422D-AC5A-7F4F9FB8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24400"/>
            <a:ext cx="43815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2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57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92C1C65-1553-4DE0-AD79-B5D81F2E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24398"/>
            <a:ext cx="3524250" cy="19738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400" b="1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Archana Yadav</a:t>
            </a:r>
          </a:p>
        </p:txBody>
      </p:sp>
      <p:sp>
        <p:nvSpPr>
          <p:cNvPr id="58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CBAEA5E-9BF4-454B-9706-2D0A6C46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24450"/>
            <a:ext cx="43815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2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59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41C5728-8F70-4AF5-8CBA-9E9F6BC3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24448"/>
            <a:ext cx="3524250" cy="19738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400" b="1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Chinar Goel</a:t>
            </a:r>
          </a:p>
        </p:txBody>
      </p:sp>
      <p:sp>
        <p:nvSpPr>
          <p:cNvPr id="60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DB75646-2E70-45A2-98F8-D380EBC6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24450"/>
            <a:ext cx="238125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2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2025MT03125</a:t>
            </a:r>
          </a:p>
        </p:txBody>
      </p:sp>
      <p:sp>
        <p:nvSpPr>
          <p:cNvPr id="6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1FA37F5-9AD4-40A7-BB56-26C40F43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524500"/>
            <a:ext cx="43815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2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62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7D5D127-6EAB-4963-A8A0-37ED95BA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24498"/>
            <a:ext cx="3524250" cy="19738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400" b="1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Satya Prakash Gupta</a:t>
            </a:r>
          </a:p>
        </p:txBody>
      </p:sp>
      <p:sp>
        <p:nvSpPr>
          <p:cNvPr id="6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A4111D9-F522-44C5-B553-8A400833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24500"/>
            <a:ext cx="238125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2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2025MT03128</a:t>
            </a:r>
          </a:p>
        </p:txBody>
      </p:sp>
      <p:sp>
        <p:nvSpPr>
          <p:cNvPr id="64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8EABFDF-6830-4A0F-8186-A00CC93C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924550"/>
            <a:ext cx="43815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2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05</a:t>
            </a:r>
          </a:p>
        </p:txBody>
      </p:sp>
      <p:sp>
        <p:nvSpPr>
          <p:cNvPr id="6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1E961F34-6FF8-4A70-945E-5712C1BE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24548"/>
            <a:ext cx="3524250" cy="19738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400" b="1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Tanya Kapoor</a:t>
            </a:r>
          </a:p>
        </p:txBody>
      </p:sp>
      <p:sp>
        <p:nvSpPr>
          <p:cNvPr id="6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2F4E9E9-FB33-485D-B7BC-5C4DAB68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24550"/>
            <a:ext cx="238125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2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2025MT03099</a:t>
            </a:r>
          </a:p>
        </p:txBody>
      </p:sp>
      <p:sp>
        <p:nvSpPr>
          <p:cNvPr id="6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1BDC2EAC-6ADA-4D9A-AC23-6688FAB1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68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2BE56CD-48B7-41FB-8164-C4F009FC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9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11455306-63F1-454C-A98A-1C21BDC1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70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AF4AA628-F823-41A9-81ED-7A9D4B40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71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3BAB207-DEF2-40B9-886C-8187E339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72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8CC15B2D-E96C-489D-A4C7-64DF752E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73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DFA9AF74-8610-4103-B99E-D9DC534C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74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DED49828-AC3A-4278-821D-455C786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75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7052EE14-7FFA-4A0B-B611-C88A2BCD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76" name="TextBox 51">
            <a:extLst xmlns:a="http://schemas.openxmlformats.org/drawingml/2006/main">
              <a:ext uri="{FF2B5EF4-FFF2-40B4-BE49-F238E27FC236}">
                <a16:creationId xmlns:a16="http://schemas.microsoft.com/office/drawing/2014/main" id="{4AE83A7F-BE8E-4C1C-A51B-C70FD52E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4908" y="4686775"/>
            <a:ext cx="2623188" cy="26425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2025MT03046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5B7C8B9-64AF-409D-AA8F-38A71749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76028925"/>
      </p:ext>
    </p:extLst>
  </p:cSld>
</p:sld>
</file>

<file path=ppt/slides/slide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611BEDE-FEDC-446A-AB7E-1F1CD973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8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9BCBFB6B-CDD6-4EAC-A09D-BE535AE7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38128A7-A8B4-4ABA-9921-71490C0F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8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F94F10F3-3352-44A5-B780-2D5EDD2F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8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7D30B3BE-16DF-400F-B524-0A2C00F7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8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472198A1-3A2E-434B-8A9D-2EA3FDD3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8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BDFE2208-5B87-489F-A903-29A5F2F3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8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7DDD0374-DB10-41A8-AEA1-E1B069AB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8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C5D38420-6FE1-4DF1-BBFF-C4FE3446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pic>
        <p:nvPicPr>
          <p:cNvPr id="103" name="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f1778f53249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38545" y="1762125"/>
            <a:ext cx="7114910" cy="43815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90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9986256-224E-4EEB-849C-A958CA58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71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000" b="1">
                <a:solidFill>
                  <a:srgbClr val="0D8F9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925" b="1">
                <a:solidFill>
                  <a:srgbClr val="0B243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2433"/>
                </a:solidFill>
                <a:latin typeface="Arial"/>
                <a:ea typeface="Arial"/>
                <a:cs typeface="Arial"/>
              </a:rPr>
              <a:t>Source code repository</a:t>
            </a:r>
          </a:p>
        </p:txBody>
      </p:sp>
      <p:sp>
        <p:nvSpPr>
          <p:cNvPr id="91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43477DF-1643-4862-91F5-D1518F4B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7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/>
            <a:r>
              <a:rPr sz="1800" u="sng">
                <a:solidFill>
                  <a:srgbClr val="0563C1"/>
                </a:solidFill>
                <a:latin typeface="Arial"/>
                <a:ea typeface="Arial"/>
                <a:cs typeface="Arial"/>
                <a:hlinkClick xmlns:r="http://schemas.openxmlformats.org/officeDocument/2006/relationships" r:id="R15f11e9359374ed4"/>
              </a:rPr>
              <a:t>github.com/gchinar/apache-flume-oilgas-group2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F9CF1F7-765C-4474-8B40-C434E671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5180200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87842E0-945C-4814-B524-77F472C6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96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7273AE56-5EE6-4FCD-8D18-43EA6B36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7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E7E6421-DF34-474D-9313-6E6425AD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98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5C8C884B-4DEA-46D6-813D-C20499A8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99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E116C9CC-07B1-4ADB-8195-F7329979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100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0AA3F891-624A-434C-BD1B-AA9DD91B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101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575A9096-6886-4229-B370-7AD70E47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102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C9DC7FFC-3A39-49E1-9DA1-49C89E9E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103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0EC87025-0526-4C96-BB8A-B0971B16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104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5384FE8-D65E-4DF7-B81F-10B7CD8B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71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000" b="1">
                <a:solidFill>
                  <a:srgbClr val="0D8F9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925" b="1">
                <a:solidFill>
                  <a:srgbClr val="0B243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2433"/>
                </a:solidFill>
                <a:latin typeface="Arial"/>
                <a:ea typeface="Arial"/>
                <a:cs typeface="Arial"/>
              </a:rPr>
              <a:t>Recorded demonstration</a:t>
            </a:r>
          </a:p>
        </p:txBody>
      </p:sp>
      <p:sp>
        <p:nvSpPr>
          <p:cNvPr id="105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1DD2B2C-FC4F-45B4-900E-CC41C49C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04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7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/>
            <a:r>
              <a:rPr sz="1800" u="sng">
                <a:solidFill>
                  <a:srgbClr val="0563C1"/>
                </a:solidFill>
                <a:latin typeface="Arial"/>
                <a:ea typeface="Arial"/>
                <a:cs typeface="Arial"/>
                <a:hlinkClick xmlns:r="http://schemas.openxmlformats.org/officeDocument/2006/relationships" r:id="Rae25042f14db40cd"/>
              </a:rPr>
              <a:t>Watch the recorded demonstration on Google Drive</a:t>
            </a:r>
          </a:p>
        </p:txBody>
      </p:sp>
      <p:pic>
        <p:nvPicPr>
          <p:cNvPr id="122" name="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0090c3b3a49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90411" y="2095500"/>
            <a:ext cx="7411177" cy="4191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0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365CF8F-FE8B-4484-A3AD-166282C8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820400" cy="304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7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/>
            <a:r>
              <a:rPr sz="1650" u="sng">
                <a:solidFill>
                  <a:srgbClr val="0563C1"/>
                </a:solidFill>
                <a:latin typeface="Arial"/>
                <a:ea typeface="Arial"/>
                <a:cs typeface="Arial"/>
                <a:hlinkClick xmlns:r="http://schemas.openxmlformats.org/officeDocument/2006/relationships" r:id="R77e18404a32a4734"/>
              </a:rPr>
              <a:t>Alternative: watch on YouTube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DF8393E-583C-486E-B29C-C5AED1BC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89903066"/>
      </p:ext>
    </p:extLst>
  </p:cSld>
</p:sld>
</file>

<file path=ppt/slides/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C558D28-4212-4A3E-8CCF-2D68A37F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11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5584440-B4DC-4EA3-9F5A-10E2CF94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450E344-1083-4C9F-8C29-C52BD88E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11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BB1D7EA-E9E3-4AD0-A7C3-83978060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116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4AF0C0B-247F-4063-8F74-863A52C7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117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84F4DFE-23BE-45F0-AC63-63BE7A75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118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AB631FF-203C-435D-AD05-965FE8CB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119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5790A8E-9C4D-4A0D-A939-5A607BF0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120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D6EDDE5-14F7-4895-AD9F-D59A311F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121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5D8C3F8-77D3-40ED-81AE-20A8AF01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48"/>
            <a:ext cx="10668000" cy="4566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2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Problem and abstract</a:t>
            </a:r>
          </a:p>
        </p:txBody>
      </p:sp>
      <p:sp>
        <p:nvSpPr>
          <p:cNvPr id="122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4DCCBDED-69C6-490F-90E4-74309121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6400800"/>
            <a:ext cx="1097280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3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20A2DF7-F8A8-40D1-BDE0-DA1CDD4C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099"/>
            <a:ext cx="4381500" cy="13554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0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sp>
        <p:nvSpPr>
          <p:cNvPr id="125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0EE9B7E-890E-46E6-9B82-A7320B01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49"/>
            <a:ext cx="5334000" cy="3579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buNone/>
              <a:defRPr sz="25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Oil and gas equipment monitoring</a:t>
            </a:r>
          </a:p>
        </p:txBody>
      </p:sp>
      <p:sp>
        <p:nvSpPr>
          <p:cNvPr id="126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0B79639-F9B2-4EC1-861E-3B905000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619750" cy="2762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17999"/>
              </a:lnSpc>
              <a:buNone/>
              <a:defRPr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r>
              <a:rPr sz="1875"/>
              <a:t>Oil and gas equipment requires continuous monitoring of operating conditions. This prototype collects simulated sensor readings through Apache Flume and displays the latest asset status in a Streamlit dashboard. Threshold checks identify abnormal measurements so operators can inspect the affected equipment.</a:t>
            </a:r>
          </a:p>
        </p:txBody>
      </p:sp>
      <p:sp>
        <p:nvSpPr>
          <p:cNvPr id="127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2D3FC66-BF9D-4AB8-B649-C1750CAF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19249"/>
            <a:ext cx="1714500" cy="64007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4000" b="1">
                <a:solidFill>
                  <a:srgbClr val="0D8F9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r>
              <a:t>2 s</a:t>
            </a:r>
          </a:p>
        </p:txBody>
      </p:sp>
      <p:sp>
        <p:nvSpPr>
          <p:cNvPr id="128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9876B8F-33D2-4CAB-B6D9-19E89A77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8459"/>
            <a:ext cx="3048000" cy="51328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7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configured sleep between events</a:t>
            </a:r>
          </a:p>
        </p:txBody>
      </p:sp>
      <p:sp>
        <p:nvSpPr>
          <p:cNvPr id="129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E50614A-6921-4447-852E-B9674F03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00349"/>
            <a:ext cx="1714500" cy="64007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4000" b="1">
                <a:solidFill>
                  <a:srgbClr val="0D8F9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r>
              <a:t>4</a:t>
            </a:r>
          </a:p>
        </p:txBody>
      </p:sp>
      <p:sp>
        <p:nvSpPr>
          <p:cNvPr id="130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2B96A97-9B44-4065-B385-C922DB17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81324"/>
            <a:ext cx="3048000" cy="24693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7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equipment units monitored</a:t>
            </a:r>
          </a:p>
        </p:txBody>
      </p:sp>
      <p:sp>
        <p:nvSpPr>
          <p:cNvPr id="131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6A43986-9C78-4D41-B6FC-1C647355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81448"/>
            <a:ext cx="1714500" cy="64007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4000" b="1">
                <a:solidFill>
                  <a:srgbClr val="0D8F9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r>
              <a:t>4</a:t>
            </a:r>
          </a:p>
        </p:txBody>
      </p:sp>
      <p:sp>
        <p:nvSpPr>
          <p:cNvPr id="132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9458405-94D6-4941-8557-9A77B4F4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62424"/>
            <a:ext cx="3143250" cy="24693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7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parameters checked per event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7F62E3D-859A-408E-949B-EF179050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1460943"/>
      </p:ext>
    </p:extLst>
  </p:cSld>
</p:sld>
</file>

<file path=ppt/slides/slide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317CDDD7-EDDA-4F1D-8A92-91D60664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13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0E71AB5-8B8E-48F9-8251-584A6F9E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13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EA76814-31CC-4BD3-B595-1210BF59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9F4EAF2-8A01-4EDB-8CC7-9B2D152E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14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9C1EB1F-058C-4319-87E9-9E395E5B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141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EF0D992-2A67-4A8A-97C6-3CAB60F2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142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B90072C-00DD-467D-8269-29ADF291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143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C34D9B7-3A82-4BBE-A884-D3462A3C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144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2294E78-5019-4F74-93C0-5C165E1B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145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2DBBFF4-48B2-48C7-8D69-77F9D386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48"/>
            <a:ext cx="10668000" cy="4566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2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Apache Flume data-flow model</a:t>
            </a:r>
          </a:p>
        </p:txBody>
      </p:sp>
      <p:sp>
        <p:nvSpPr>
          <p:cNvPr id="146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E2F2BAFD-4D12-483D-98AF-59420525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6400800"/>
            <a:ext cx="1097280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7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A67E211-0388-4B48-A49E-EFFF9ADB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099"/>
            <a:ext cx="4381500" cy="13554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0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sp>
        <p:nvSpPr>
          <p:cNvPr id="149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1D82B51-B8DB-47A1-800B-BDF74859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572750" cy="53550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14000"/>
              </a:lnSpc>
              <a:buNone/>
              <a:defRPr sz="17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 Flume agent is a JVM process that moves events through a source, a channel, and a sink. The channel lets ingestion and delivery run asynchronously.</a:t>
            </a:r>
          </a:p>
        </p:txBody>
      </p:sp>
      <p:sp>
        <p:nvSpPr>
          <p:cNvPr id="150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9D0A567C-F398-4619-9832-DE9C154D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57450"/>
            <a:ext cx="1714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D3E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1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BDD8E75-84D9-45C7-831D-EC2E4E8D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6941"/>
            <a:ext cx="152400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Producer</a:t>
            </a:r>
          </a:p>
        </p:txBody>
      </p:sp>
      <p:sp>
        <p:nvSpPr>
          <p:cNvPr id="152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3D65235-818A-4868-9F40-659E9E03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9229"/>
            <a:ext cx="152400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external data</a:t>
            </a:r>
          </a:p>
        </p:txBody>
      </p:sp>
      <p:sp>
        <p:nvSpPr>
          <p:cNvPr id="153" name="Rectangle: Rounded Corners 17">
            <a:extLst xmlns:a="http://schemas.openxmlformats.org/drawingml/2006/main">
              <a:ext uri="{FF2B5EF4-FFF2-40B4-BE49-F238E27FC236}">
                <a16:creationId xmlns:a16="http://schemas.microsoft.com/office/drawing/2014/main" id="{091D0200-40A4-43F1-99EF-528B6531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57450"/>
            <a:ext cx="1714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76C7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4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06AC63B-62E7-43C9-9671-B32B8754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66941"/>
            <a:ext cx="152400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Source</a:t>
            </a:r>
          </a:p>
        </p:txBody>
      </p:sp>
      <p:sp>
        <p:nvSpPr>
          <p:cNvPr id="155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F2538EB-452A-4856-9BC4-10CA4E00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9229"/>
            <a:ext cx="152400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accepts events</a:t>
            </a:r>
          </a:p>
        </p:txBody>
      </p:sp>
      <p:sp>
        <p:nvSpPr>
          <p:cNvPr id="156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FB8B6A6B-60B9-4E8A-A12E-F2B7BE9C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57450"/>
            <a:ext cx="1714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7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E346CD09-68FA-4CBD-94A4-AE040C86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66941"/>
            <a:ext cx="152400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Channel</a:t>
            </a:r>
          </a:p>
        </p:txBody>
      </p:sp>
      <p:sp>
        <p:nvSpPr>
          <p:cNvPr id="158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C721899-F567-4047-B1BA-6C29130D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09229"/>
            <a:ext cx="152400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stages events</a:t>
            </a:r>
          </a:p>
        </p:txBody>
      </p:sp>
      <p:sp>
        <p:nvSpPr>
          <p:cNvPr id="159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C2705269-360B-4C17-8193-5F47FF71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57450"/>
            <a:ext cx="1714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37B08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0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9179D6B-77AB-4B85-A491-F3FA2991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66941"/>
            <a:ext cx="152400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Sink</a:t>
            </a:r>
          </a:p>
        </p:txBody>
      </p:sp>
      <p:sp>
        <p:nvSpPr>
          <p:cNvPr id="161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F5D902D-D680-41A7-9C5A-10D79F8A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09229"/>
            <a:ext cx="152400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drains events</a:t>
            </a:r>
          </a:p>
        </p:txBody>
      </p:sp>
      <p:sp>
        <p:nvSpPr>
          <p:cNvPr id="162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0EEA2B65-826A-4931-96E3-BD25AAE1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57450"/>
            <a:ext cx="1714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D3E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3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0952E07-6D0F-4C80-A37F-CDA46DD2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66941"/>
            <a:ext cx="152400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Destination</a:t>
            </a:r>
          </a:p>
        </p:txBody>
      </p:sp>
      <p:sp>
        <p:nvSpPr>
          <p:cNvPr id="16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6E55AF6-1D15-4014-964A-07A79DE8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09229"/>
            <a:ext cx="152400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stores or forwards</a:t>
            </a:r>
          </a:p>
        </p:txBody>
      </p:sp>
      <p:cxnSp>
        <p:nvCxnSpPr>
          <p:cNvPr id="202" name="Straight Arrow Connector 65"/>
          <p:cNvCxnSpPr>
            <a:stCxn xmlns:a="http://schemas.openxmlformats.org/drawingml/2006/main" id="150" idx="0"/>
            <a:endCxn xmlns:a="http://schemas.openxmlformats.org/drawingml/2006/main" id="153" idx="0"/>
          </p:cNvCxnSpPr>
          <p:nvPr/>
        </p:nvCxnSpPr>
        <p:spPr>
          <a:xfrm xmlns:a="http://schemas.openxmlformats.org/drawingml/2006/main">
            <a:off x="1352550" y="29908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D78"/>
            </a:solidFill>
            <a:tailEnd type="triangle"/>
          </a:ln>
        </p:spPr>
      </p:cxnSp>
      <p:cxnSp>
        <p:nvCxnSpPr>
          <p:cNvPr id="203" name="Straight Arrow Connector 66"/>
          <p:cNvCxnSpPr>
            <a:stCxn xmlns:a="http://schemas.openxmlformats.org/drawingml/2006/main" id="153" idx="0"/>
            <a:endCxn xmlns:a="http://schemas.openxmlformats.org/drawingml/2006/main" id="156" idx="0"/>
          </p:cNvCxnSpPr>
          <p:nvPr/>
        </p:nvCxnSpPr>
        <p:spPr>
          <a:xfrm xmlns:a="http://schemas.openxmlformats.org/drawingml/2006/main">
            <a:off x="3733800" y="29908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D78"/>
            </a:solidFill>
            <a:tailEnd type="triangle"/>
          </a:ln>
        </p:spPr>
      </p:cxnSp>
      <p:cxnSp>
        <p:nvCxnSpPr>
          <p:cNvPr id="204" name="Straight Arrow Connector 67"/>
          <p:cNvCxnSpPr>
            <a:stCxn xmlns:a="http://schemas.openxmlformats.org/drawingml/2006/main" id="156" idx="0"/>
            <a:endCxn xmlns:a="http://schemas.openxmlformats.org/drawingml/2006/main" id="159" idx="0"/>
          </p:cNvCxnSpPr>
          <p:nvPr/>
        </p:nvCxnSpPr>
        <p:spPr>
          <a:xfrm xmlns:a="http://schemas.openxmlformats.org/drawingml/2006/main">
            <a:off x="6115050" y="29908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D78"/>
            </a:solidFill>
            <a:tailEnd type="triangle"/>
          </a:ln>
        </p:spPr>
      </p:cxnSp>
      <p:cxnSp>
        <p:nvCxnSpPr>
          <p:cNvPr id="205" name="Straight Arrow Connector 68"/>
          <p:cNvCxnSpPr>
            <a:stCxn xmlns:a="http://schemas.openxmlformats.org/drawingml/2006/main" id="159" idx="0"/>
            <a:endCxn xmlns:a="http://schemas.openxmlformats.org/drawingml/2006/main" id="162" idx="0"/>
          </p:cNvCxnSpPr>
          <p:nvPr/>
        </p:nvCxnSpPr>
        <p:spPr>
          <a:xfrm xmlns:a="http://schemas.openxmlformats.org/drawingml/2006/main">
            <a:off x="8496300" y="29908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D78"/>
            </a:solidFill>
            <a:tailEnd type="triangle"/>
          </a:ln>
        </p:spPr>
      </p:cxnSp>
      <p:sp>
        <p:nvSpPr>
          <p:cNvPr id="169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8AB721DF-FA8B-4DAC-9D26-4D53EF11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09998"/>
            <a:ext cx="2286000" cy="185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PUT transaction</a:t>
            </a:r>
          </a:p>
        </p:txBody>
      </p:sp>
      <p:sp>
        <p:nvSpPr>
          <p:cNvPr id="170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574D9506-5A2B-42ED-8ADC-49A14F52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09998"/>
            <a:ext cx="2286000" cy="185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 b="1">
                <a:solidFill>
                  <a:srgbClr val="A063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TAKE transaction</a:t>
            </a:r>
          </a:p>
        </p:txBody>
      </p:sp>
      <p:sp>
        <p:nvSpPr>
          <p:cNvPr id="171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D7649873-391C-4D51-A791-43B6C7F8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E7F1F5"/>
          </a:solidFill>
          <a:ln xmlns:a="http://schemas.openxmlformats.org/drawingml/2006/main">
            <a:solidFill>
              <a:srgbClr val="C8DCE5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4999"/>
              </a:lnSpc>
              <a:buNone/>
              <a:defRPr sz="1700">
                <a:solidFill>
                  <a:srgbClr val="071B2A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172" name="Transactions protect the handoff at the channel. Durability still depends on the selected source, channel, and sink.">
            <a:extLst xmlns:a="http://schemas.openxmlformats.org/drawingml/2006/main">
              <a:ext uri="{FF2B5EF4-FFF2-40B4-BE49-F238E27FC236}">
                <a16:creationId xmlns:a16="http://schemas.microsoft.com/office/drawing/2014/main" id="{F9C4D0F2-65E7-499A-A145-0CFEE0EF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9" y="4806998"/>
            <a:ext cx="8789662" cy="70378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95250" tIns="95250" rIns="95250" bIns="95250" anchor="ctr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700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Transactions protect the handoff at the channel. Durability still depends on the selected source, channel, and sink.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0A040311-B1AC-4E99-8815-178D34BE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17970482"/>
      </p:ext>
    </p:extLst>
  </p:cSld>
</p:sld>
</file>

<file path=ppt/slides/slide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6FDEF26F-DF6A-4A44-8F20-5CF85178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17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F59B350-A0ED-4776-8701-BF27C632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17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4FA62F4-4C91-490D-94BB-50A02617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639360C-2905-4B09-858C-79C9CD09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18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27913EF-BBB7-4A9A-8BD4-490FF5DC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181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BA74EEB-C42E-4F88-BEDB-3E0CD2CC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182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5A253B4-8F83-4AAD-A097-185474E1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183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CF2B86D-60CB-4E20-B798-A4E79367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184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EB821B7-9A2C-4AA2-90A0-D7A49664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185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792BE6D-0720-4B8E-B557-6D4BF9F5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48"/>
            <a:ext cx="10668000" cy="4566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2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Flume architecture components and responsibilities</a:t>
            </a:r>
          </a:p>
        </p:txBody>
      </p:sp>
      <p:sp>
        <p:nvSpPr>
          <p:cNvPr id="186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60672223-AAEE-4F5E-BB30-5DF7F341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6400800"/>
            <a:ext cx="1097280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7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E28420A-9A04-4662-8DFC-0EE9325C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099"/>
            <a:ext cx="4381500" cy="13554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0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sp>
        <p:nvSpPr>
          <p:cNvPr id="189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002881-7455-4B5D-BC74-FB831F86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42875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Component</a:t>
            </a:r>
          </a:p>
        </p:txBody>
      </p:sp>
      <p:sp>
        <p:nvSpPr>
          <p:cNvPr id="190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4AFB3BB-1707-4AA2-94D3-D61558AF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52549"/>
            <a:ext cx="533400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Responsibility in a Flume flow</a:t>
            </a:r>
          </a:p>
        </p:txBody>
      </p:sp>
      <p:sp>
        <p:nvSpPr>
          <p:cNvPr id="191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0EDC3EA-17B7-4A06-891F-67689432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52549"/>
            <a:ext cx="304800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Mapping in this prototype</a:t>
            </a:r>
          </a:p>
        </p:txBody>
      </p:sp>
      <p:sp>
        <p:nvSpPr>
          <p:cNvPr id="192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EF2912F5-77E4-4B0D-8923-C1E316E8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99" y="1676400"/>
            <a:ext cx="1074420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3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7E7CE0A-0199-4212-8042-95ABDC0C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428750" cy="22195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6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Agent</a:t>
            </a:r>
          </a:p>
        </p:txBody>
      </p:sp>
      <p:sp>
        <p:nvSpPr>
          <p:cNvPr id="194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844E31C-3CF2-4236-92E3-77BB4ECE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52599"/>
            <a:ext cx="5429250" cy="3941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10000"/>
              </a:lnSpc>
              <a:buNone/>
              <a:defRPr sz="13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JVM process that hosts named sources, channels, and sinks and manages their lifecycle.</a:t>
            </a:r>
          </a:p>
        </p:txBody>
      </p:sp>
      <p:sp>
        <p:nvSpPr>
          <p:cNvPr id="195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183DE85-243D-4CFF-8C58-4D3CD792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599"/>
            <a:ext cx="2952750" cy="1905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 b="1">
                <a:solidFill>
                  <a:srgbClr val="071B2A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buNone/>
            </a:pPr>
            <a:r>
              <a:t>a1</a:t>
            </a:r>
          </a:p>
        </p:txBody>
      </p:sp>
      <p:sp>
        <p:nvSpPr>
          <p:cNvPr id="196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7992E223-4DA1-4354-A0A9-976978FD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99" y="2409825"/>
            <a:ext cx="1074420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7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EEBBED6-81E6-4638-893B-7D637D79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428750" cy="22195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6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Event</a:t>
            </a:r>
          </a:p>
        </p:txBody>
      </p:sp>
      <p:sp>
        <p:nvSpPr>
          <p:cNvPr id="198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6AC1621-0920-43DD-A011-646B75AA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86025"/>
            <a:ext cx="5429250" cy="18509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10000"/>
              </a:lnSpc>
              <a:buNone/>
              <a:defRPr sz="13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Unit of data flow with a byte payload and optional string headers.</a:t>
            </a:r>
          </a:p>
        </p:txBody>
      </p:sp>
      <p:sp>
        <p:nvSpPr>
          <p:cNvPr id="199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458840-9A55-4B90-861C-E7353951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4"/>
            <a:ext cx="2952750" cy="18509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One six-field CSV line</a:t>
            </a:r>
          </a:p>
        </p:txBody>
      </p:sp>
      <p:sp>
        <p:nvSpPr>
          <p:cNvPr id="200" name="Straight Connector 24">
            <a:extLst xmlns:a="http://schemas.openxmlformats.org/drawingml/2006/main">
              <a:ext uri="{FF2B5EF4-FFF2-40B4-BE49-F238E27FC236}">
                <a16:creationId xmlns:a16="http://schemas.microsoft.com/office/drawing/2014/main" id="{F2D9E70F-9391-4E94-99E3-9E2B45E9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99" y="3143250"/>
            <a:ext cx="1074420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1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A3F596E-F148-4E77-8777-FF83229C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428750" cy="22195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6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Source</a:t>
            </a:r>
          </a:p>
        </p:txBody>
      </p:sp>
      <p:sp>
        <p:nvSpPr>
          <p:cNvPr id="202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04CBF92-E5C1-4291-9D11-EEA9FEA7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19449"/>
            <a:ext cx="5429250" cy="3941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10000"/>
              </a:lnSpc>
              <a:buNone/>
              <a:defRPr sz="13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Receives or creates events and puts them into one or more channels inside a transaction.</a:t>
            </a:r>
          </a:p>
        </p:txBody>
      </p:sp>
      <p:sp>
        <p:nvSpPr>
          <p:cNvPr id="203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6BA10E5E-1171-4E89-AA3B-119789F3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19449"/>
            <a:ext cx="2952750" cy="18509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source1, Exec Source</a:t>
            </a:r>
          </a:p>
        </p:txBody>
      </p:sp>
      <p:sp>
        <p:nvSpPr>
          <p:cNvPr id="204" name="Straight Connector 28">
            <a:extLst xmlns:a="http://schemas.openxmlformats.org/drawingml/2006/main">
              <a:ext uri="{FF2B5EF4-FFF2-40B4-BE49-F238E27FC236}">
                <a16:creationId xmlns:a16="http://schemas.microsoft.com/office/drawing/2014/main" id="{B5567E62-8274-4030-897E-F6000BA2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99" y="3876675"/>
            <a:ext cx="1074420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5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E84E1E6A-F064-48E2-9B4A-5737E240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428750" cy="22195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600" b="1">
                <a:solidFill>
                  <a:srgbClr val="0D8F9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Channel</a:t>
            </a:r>
          </a:p>
        </p:txBody>
      </p:sp>
      <p:sp>
        <p:nvSpPr>
          <p:cNvPr id="206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2E0DA20A-2B92-4289-8164-2C53C6F5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52874"/>
            <a:ext cx="5429250" cy="3941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10000"/>
              </a:lnSpc>
              <a:buNone/>
              <a:defRPr sz="13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Passive staging store that separates ingestion speed from sink delivery speed.</a:t>
            </a:r>
          </a:p>
        </p:txBody>
      </p:sp>
      <p:sp>
        <p:nvSpPr>
          <p:cNvPr id="207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4CB98FC1-4B10-47D8-86DF-3CF9E8D8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52873"/>
            <a:ext cx="2952750" cy="185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channel1, Memory Channel</a:t>
            </a:r>
          </a:p>
        </p:txBody>
      </p:sp>
      <p:sp>
        <p:nvSpPr>
          <p:cNvPr id="208" name="Straight Connector 32">
            <a:extLst xmlns:a="http://schemas.openxmlformats.org/drawingml/2006/main">
              <a:ext uri="{FF2B5EF4-FFF2-40B4-BE49-F238E27FC236}">
                <a16:creationId xmlns:a16="http://schemas.microsoft.com/office/drawing/2014/main" id="{74639D62-101A-419B-9824-5B8EE9EE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99" y="4610100"/>
            <a:ext cx="1074420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9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7C69B660-670C-45B4-B4AF-63384037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428750" cy="22195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6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Sink</a:t>
            </a:r>
          </a:p>
        </p:txBody>
      </p:sp>
      <p:sp>
        <p:nvSpPr>
          <p:cNvPr id="210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5A09A4F6-F903-4181-BF2C-7E8C1B85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6299"/>
            <a:ext cx="5429250" cy="3941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10000"/>
              </a:lnSpc>
              <a:buNone/>
              <a:defRPr sz="13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Takes events from one channel inside a transaction and writes or forwards them.</a:t>
            </a:r>
          </a:p>
        </p:txBody>
      </p:sp>
      <p:sp>
        <p:nvSpPr>
          <p:cNvPr id="211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5D89F07-0B75-4AE8-BB90-6FECA1DA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86298"/>
            <a:ext cx="2952750" cy="185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sink1, File Roll Sink</a:t>
            </a:r>
          </a:p>
        </p:txBody>
      </p:sp>
      <p:sp>
        <p:nvSpPr>
          <p:cNvPr id="212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73044714-9D30-444C-A1A6-19A84E4E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7442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7F1F5"/>
          </a:solidFill>
          <a:ln xmlns:a="http://schemas.openxmlformats.org/drawingml/2006/main">
            <a:solidFill>
              <a:srgbClr val="C8DCE5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>
                <a:solidFill>
                  <a:srgbClr val="071B2A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213" name="Source and sink run asynchronously. Transactions protect the channel handoff, while recoverability depends on the channel type. Memory Channel favors speed but cannot recover queued events after an agent failure.">
            <a:extLst xmlns:a="http://schemas.openxmlformats.org/drawingml/2006/main">
              <a:ext uri="{FF2B5EF4-FFF2-40B4-BE49-F238E27FC236}">
                <a16:creationId xmlns:a16="http://schemas.microsoft.com/office/drawing/2014/main" id="{68C11B4E-8430-4D66-A953-9434FB26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7" y="5605236"/>
            <a:ext cx="10580366" cy="58090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95250" tIns="95250" rIns="95250" bIns="95250" anchor="ctr">
            <a:spAutoFit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300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Source and sink run asynchronously. Transactions protect the channel handoff, while recoverability depends on the channel type. Memory Channel favors speed but cannot recover queued events after an agent failure.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89EAEBA3-240A-4D14-9F49-49E34B1C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19362775"/>
      </p:ext>
    </p:extLst>
  </p:cSld>
</p:sld>
</file>

<file path=ppt/slides/slide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7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11E5EA8E-CC05-4DB1-B0B7-12C29795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218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F7CC3BE-A8A8-4B84-974E-6481A8F0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219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CE28154-7C1B-4756-9A8F-342552C7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0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C1E17C9-E337-4CE5-A287-6AFC1D7A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221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F72E972-F6E7-4EE4-AFE1-F0617F4F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222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55FBDCD-D394-4E55-8011-96F03E00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223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FC9883E-C19B-4794-BB4A-8D4973BD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224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F513437-8768-42E9-B142-8B16E433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225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9EEA773-AE9D-48F6-B5DC-EBA57ADF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226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B010C1C-0F2F-4DDD-988F-301FD851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48"/>
            <a:ext cx="10668000" cy="4566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2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Case-study architecture</a:t>
            </a:r>
          </a:p>
        </p:txBody>
      </p:sp>
      <p:sp>
        <p:nvSpPr>
          <p:cNvPr id="227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496229C9-68DF-48B6-9B63-DCE508C4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6400800"/>
            <a:ext cx="1097280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8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B0E1A9D-BE58-4BFE-B8B3-856C946D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099"/>
            <a:ext cx="4381500" cy="13554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0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sp>
        <p:nvSpPr>
          <p:cNvPr id="230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1610185-5276-4CD0-84F2-1B8ED09C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49"/>
            <a:ext cx="10572750" cy="24693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7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One line becomes one Flume event and remains CSV throughout the prototype</a:t>
            </a:r>
          </a:p>
        </p:txBody>
      </p:sp>
      <p:sp>
        <p:nvSpPr>
          <p:cNvPr id="231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ACA7DACF-741B-4485-B2EF-06B9F034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28900"/>
            <a:ext cx="13144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D3E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2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DE8CFF0-8D78-427A-B1C3-013BBFD1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391"/>
            <a:ext cx="112395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PowerShell</a:t>
            </a:r>
          </a:p>
        </p:txBody>
      </p:sp>
      <p:sp>
        <p:nvSpPr>
          <p:cNvPr id="233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A77C3B2-9C83-4376-8212-04CAA4F1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18778"/>
            <a:ext cx="1123950" cy="17281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sensor simulator</a:t>
            </a:r>
          </a:p>
        </p:txBody>
      </p:sp>
      <p:sp>
        <p:nvSpPr>
          <p:cNvPr id="234" name="Rectangle: Rounded Corners 17">
            <a:extLst xmlns:a="http://schemas.openxmlformats.org/drawingml/2006/main">
              <a:ext uri="{FF2B5EF4-FFF2-40B4-BE49-F238E27FC236}">
                <a16:creationId xmlns:a16="http://schemas.microsoft.com/office/drawing/2014/main" id="{1B14BAD3-5A14-41D7-BC09-DE947E16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28900"/>
            <a:ext cx="13144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4495A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5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0574211-1C7F-4C89-A301-D5FA77A8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38391"/>
            <a:ext cx="112395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Text file</a:t>
            </a:r>
          </a:p>
        </p:txBody>
      </p:sp>
      <p:sp>
        <p:nvSpPr>
          <p:cNvPr id="236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98928AB-3E8D-4470-B5C1-F664BD8D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29879"/>
            <a:ext cx="1123950" cy="3506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sensor_stream</a:t>
            </a:r>
          </a:p>
          <a:p xmlns:a="http://schemas.openxmlformats.org/drawingml/2006/main">
            <a:pPr algn="ctr"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.txt</a:t>
            </a:r>
          </a:p>
        </p:txBody>
      </p:sp>
      <p:sp>
        <p:nvSpPr>
          <p:cNvPr id="237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F536DFC5-D627-42B4-915E-46425F28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28900"/>
            <a:ext cx="13144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6C7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8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3A332C3-2D83-4A88-929A-561109D2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25197"/>
            <a:ext cx="1123950" cy="43605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Exec Source</a:t>
            </a:r>
          </a:p>
        </p:txBody>
      </p:sp>
      <p:sp>
        <p:nvSpPr>
          <p:cNvPr id="239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13D6487-2C04-485C-AF1F-EBDBACAA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29879"/>
            <a:ext cx="1123950" cy="3506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Get-Content -Wait</a:t>
            </a:r>
          </a:p>
        </p:txBody>
      </p:sp>
      <p:sp>
        <p:nvSpPr>
          <p:cNvPr id="240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D028792C-ECEA-46EF-90F7-18A3096B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28900"/>
            <a:ext cx="13144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1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9F2C0715-7F8C-4D27-B617-D399BB60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838391"/>
            <a:ext cx="112395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Memory</a:t>
            </a:r>
          </a:p>
        </p:txBody>
      </p:sp>
      <p:sp>
        <p:nvSpPr>
          <p:cNvPr id="24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B38BC8-E908-4E16-A44A-8B70BE87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318778"/>
            <a:ext cx="1123950" cy="17281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channel1</a:t>
            </a:r>
          </a:p>
        </p:txBody>
      </p:sp>
      <p:sp>
        <p:nvSpPr>
          <p:cNvPr id="243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C84FF695-E5BF-4310-B8FE-F2B55538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28900"/>
            <a:ext cx="13144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37B08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BE3D51E-10BE-4985-9E68-A62F8179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38391"/>
            <a:ext cx="112395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File Roll</a:t>
            </a:r>
          </a:p>
        </p:txBody>
      </p:sp>
      <p:sp>
        <p:nvSpPr>
          <p:cNvPr id="24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86B491E-E3DE-4CB5-AE34-21303508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18778"/>
            <a:ext cx="1123950" cy="17281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sink1</a:t>
            </a:r>
          </a:p>
        </p:txBody>
      </p:sp>
      <p:sp>
        <p:nvSpPr>
          <p:cNvPr id="246" name="Rectangle: Rounded Corners 29">
            <a:extLst xmlns:a="http://schemas.openxmlformats.org/drawingml/2006/main">
              <a:ext uri="{FF2B5EF4-FFF2-40B4-BE49-F238E27FC236}">
                <a16:creationId xmlns:a16="http://schemas.microsoft.com/office/drawing/2014/main" id="{6AC84449-9096-495F-9BD2-B3C5B2B5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28900"/>
            <a:ext cx="13144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7B5A2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7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B07EA1F1-BA0F-4E60-9CBB-5F8094D3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38391"/>
            <a:ext cx="112395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Output</a:t>
            </a:r>
          </a:p>
        </p:txBody>
      </p:sp>
      <p:sp>
        <p:nvSpPr>
          <p:cNvPr id="248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82C91A3-CC53-4DD9-BB14-401F302A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18778"/>
            <a:ext cx="1123950" cy="17281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local CSV files</a:t>
            </a:r>
          </a:p>
        </p:txBody>
      </p:sp>
      <p:sp>
        <p:nvSpPr>
          <p:cNvPr id="249" name="Rectangle: Rounded Corners 32">
            <a:extLst xmlns:a="http://schemas.openxmlformats.org/drawingml/2006/main">
              <a:ext uri="{FF2B5EF4-FFF2-40B4-BE49-F238E27FC236}">
                <a16:creationId xmlns:a16="http://schemas.microsoft.com/office/drawing/2014/main" id="{E8B2D44C-07DF-44FF-AF52-CDFF7D1C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628900"/>
            <a:ext cx="13144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D3E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0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0A3F3286-F386-414A-9775-530C5699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838391"/>
            <a:ext cx="112395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Streamlit</a:t>
            </a:r>
          </a:p>
        </p:txBody>
      </p:sp>
      <p:sp>
        <p:nvSpPr>
          <p:cNvPr id="251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D8468C53-B682-49CB-8EB8-E5D30614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318778"/>
            <a:ext cx="1123950" cy="17281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live dashboard</a:t>
            </a:r>
          </a:p>
        </p:txBody>
      </p:sp>
      <p:cxnSp>
        <p:nvCxnSpPr>
          <p:cNvPr id="298" name="Straight Arrow Connector 80"/>
          <p:cNvCxnSpPr>
            <a:stCxn xmlns:a="http://schemas.openxmlformats.org/drawingml/2006/main" id="231" idx="0"/>
            <a:endCxn xmlns:a="http://schemas.openxmlformats.org/drawingml/2006/main" id="234" idx="0"/>
          </p:cNvCxnSpPr>
          <p:nvPr/>
        </p:nvCxnSpPr>
        <p:spPr>
          <a:xfrm xmlns:a="http://schemas.openxmlformats.org/drawingml/2006/main">
            <a:off x="1038225" y="3200400"/>
            <a:ext cx="1685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D78"/>
            </a:solidFill>
            <a:tailEnd type="triangle"/>
          </a:ln>
        </p:spPr>
      </p:cxnSp>
      <p:cxnSp>
        <p:nvCxnSpPr>
          <p:cNvPr id="299" name="Straight Arrow Connector 81"/>
          <p:cNvCxnSpPr>
            <a:stCxn xmlns:a="http://schemas.openxmlformats.org/drawingml/2006/main" id="234" idx="0"/>
            <a:endCxn xmlns:a="http://schemas.openxmlformats.org/drawingml/2006/main" id="237" idx="0"/>
          </p:cNvCxnSpPr>
          <p:nvPr/>
        </p:nvCxnSpPr>
        <p:spPr>
          <a:xfrm xmlns:a="http://schemas.openxmlformats.org/drawingml/2006/main">
            <a:off x="2724150" y="3200400"/>
            <a:ext cx="1685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D78"/>
            </a:solidFill>
            <a:tailEnd type="triangle"/>
          </a:ln>
        </p:spPr>
      </p:cxnSp>
      <p:cxnSp>
        <p:nvCxnSpPr>
          <p:cNvPr id="300" name="Straight Arrow Connector 82"/>
          <p:cNvCxnSpPr>
            <a:stCxn xmlns:a="http://schemas.openxmlformats.org/drawingml/2006/main" id="237" idx="0"/>
            <a:endCxn xmlns:a="http://schemas.openxmlformats.org/drawingml/2006/main" id="240" idx="0"/>
          </p:cNvCxnSpPr>
          <p:nvPr/>
        </p:nvCxnSpPr>
        <p:spPr>
          <a:xfrm xmlns:a="http://schemas.openxmlformats.org/drawingml/2006/main">
            <a:off x="4410075" y="3200400"/>
            <a:ext cx="1685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D78"/>
            </a:solidFill>
            <a:tailEnd type="triangle"/>
          </a:ln>
        </p:spPr>
      </p:cxnSp>
      <p:cxnSp>
        <p:nvCxnSpPr>
          <p:cNvPr id="301" name="Straight Arrow Connector 83"/>
          <p:cNvCxnSpPr>
            <a:stCxn xmlns:a="http://schemas.openxmlformats.org/drawingml/2006/main" id="240" idx="0"/>
            <a:endCxn xmlns:a="http://schemas.openxmlformats.org/drawingml/2006/main" id="243" idx="0"/>
          </p:cNvCxnSpPr>
          <p:nvPr/>
        </p:nvCxnSpPr>
        <p:spPr>
          <a:xfrm xmlns:a="http://schemas.openxmlformats.org/drawingml/2006/main">
            <a:off x="6096000" y="3200400"/>
            <a:ext cx="1685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D78"/>
            </a:solidFill>
            <a:tailEnd type="triangle"/>
          </a:ln>
        </p:spPr>
      </p:cxnSp>
      <p:cxnSp>
        <p:nvCxnSpPr>
          <p:cNvPr id="302" name="Straight Arrow Connector 84"/>
          <p:cNvCxnSpPr>
            <a:stCxn xmlns:a="http://schemas.openxmlformats.org/drawingml/2006/main" id="243" idx="0"/>
            <a:endCxn xmlns:a="http://schemas.openxmlformats.org/drawingml/2006/main" id="246" idx="0"/>
          </p:cNvCxnSpPr>
          <p:nvPr/>
        </p:nvCxnSpPr>
        <p:spPr>
          <a:xfrm xmlns:a="http://schemas.openxmlformats.org/drawingml/2006/main">
            <a:off x="7781925" y="3200400"/>
            <a:ext cx="1685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D78"/>
            </a:solidFill>
            <a:tailEnd type="triangle"/>
          </a:ln>
        </p:spPr>
      </p:cxnSp>
      <p:cxnSp>
        <p:nvCxnSpPr>
          <p:cNvPr id="303" name="Straight Arrow Connector 85"/>
          <p:cNvCxnSpPr>
            <a:stCxn xmlns:a="http://schemas.openxmlformats.org/drawingml/2006/main" id="246" idx="0"/>
            <a:endCxn xmlns:a="http://schemas.openxmlformats.org/drawingml/2006/main" id="249" idx="0"/>
          </p:cNvCxnSpPr>
          <p:nvPr/>
        </p:nvCxnSpPr>
        <p:spPr>
          <a:xfrm xmlns:a="http://schemas.openxmlformats.org/drawingml/2006/main">
            <a:off x="9467850" y="3200400"/>
            <a:ext cx="1685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D78"/>
            </a:solidFill>
            <a:tailEnd type="triangle"/>
          </a:ln>
        </p:spPr>
      </p:cxnSp>
      <p:sp>
        <p:nvSpPr>
          <p:cNvPr id="258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E7069AC8-915B-4278-8D3B-87E93A25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00274"/>
            <a:ext cx="200025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2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append every 2 s</a:t>
            </a:r>
          </a:p>
        </p:txBody>
      </p:sp>
      <p:sp>
        <p:nvSpPr>
          <p:cNvPr id="259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8AB10942-18AB-47B4-BD6B-0EDFB40A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00274"/>
            <a:ext cx="219075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200" b="1">
                <a:solidFill>
                  <a:srgbClr val="9B62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new file every 30 s</a:t>
            </a:r>
          </a:p>
        </p:txBody>
      </p:sp>
      <p:sp>
        <p:nvSpPr>
          <p:cNvPr id="260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90C4DCB0-3817-47E1-A793-496D48D4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514850"/>
            <a:ext cx="847725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4999"/>
              </a:lnSpc>
              <a:buNone/>
              <a:defRPr sz="1500">
                <a:solidFill>
                  <a:srgbClr val="182833"/>
                </a:solidFill>
                <a:latin typeface="Courier New"/>
                <a:ea typeface="Courier New"/>
                <a:cs typeface="Courier New"/>
              </a:defRPr>
            </a:pPr>
          </a:p>
        </p:txBody>
      </p:sp>
      <p:sp>
        <p:nvSpPr>
          <p:cNvPr id="261" name="Demo path  C:\LAB_CODE\3rdsem\Stream\oilgas\sensor_stream.txt">
            <a:extLst xmlns:a="http://schemas.openxmlformats.org/drawingml/2006/main">
              <a:ext uri="{FF2B5EF4-FFF2-40B4-BE49-F238E27FC236}">
                <a16:creationId xmlns:a16="http://schemas.microsoft.com/office/drawing/2014/main" id="{4719EC53-E518-4F1F-AE22-EFB12173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2" y="4618987"/>
            <a:ext cx="8313417" cy="4064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95250" tIns="95250" rIns="95250" bIns="95250" anchor="ctr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500">
                <a:solidFill>
                  <a:srgbClr val="182833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buNone/>
            </a:pPr>
            <a:r>
              <a:t>Source file  C:\LAB_CODE\3rdsem\oilgas\sensor_stream.txt</a:t>
            </a:r>
          </a:p>
        </p:txBody>
      </p:sp>
      <p:sp>
        <p:nvSpPr>
          <p:cNvPr id="262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0C4CFD77-9730-45C8-AA05-0DE66CAD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05423"/>
            <a:ext cx="8191500" cy="22195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6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Streamlit rescans the output files after each two-second refresh cycle.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8137B3AB-588D-4F10-B723-AECFA0EB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54464364"/>
      </p:ext>
    </p:extLst>
  </p:cSld>
</p:sld>
</file>

<file path=ppt/slides/slide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F58ED701-C667-41B1-9052-8145C2E6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26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D91395A-89E5-403E-B200-2540EE31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26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3596B1C-09AF-4A75-A8CA-4DDD5536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26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DBC47D-01C1-4A8C-8964-69B13FDC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52A4EE4-673B-4EAB-8F79-4D2788B5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271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DF6538F-C9E7-475A-B4F5-1AA23FA9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272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FEC3E25-AECD-4981-8BE3-0BF8DE37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273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A125B8B-E007-4169-8E37-9D073E19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274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AE502C4-BE80-48CA-9CCA-91147CBF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275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E46710C-0BD5-43A3-AAAF-299AEF70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48"/>
            <a:ext cx="10668000" cy="4566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2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Event model and simulation</a:t>
            </a:r>
          </a:p>
        </p:txBody>
      </p:sp>
      <p:sp>
        <p:nvSpPr>
          <p:cNvPr id="276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B1717DFF-C6CD-44AB-BA0A-03A6C4A2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6400800"/>
            <a:ext cx="1097280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7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F6682C5-63D5-45A5-9F9B-AB9DB757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099"/>
            <a:ext cx="4381500" cy="13554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0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sp>
        <p:nvSpPr>
          <p:cNvPr id="279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3FCF68F-0F7F-4C14-B516-98DBD77B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3429000" cy="25922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CSV event schema</a:t>
            </a:r>
          </a:p>
        </p:txBody>
      </p:sp>
      <p:sp>
        <p:nvSpPr>
          <p:cNvPr id="280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6B07D060-7BCC-4CB1-9681-679EC752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67627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071B2A"/>
          </a:solidFill>
          <a:ln xmlns:a="http://schemas.openxmlformats.org/drawingml/2006/main" w="1270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</a:p>
        </p:txBody>
      </p:sp>
      <p:sp>
        <p:nvSpPr>
          <p:cNvPr id="281" name="Equipment,Temperature,Pressure,Flow,Vibration,Timestamp…">
            <a:extLst xmlns:a="http://schemas.openxmlformats.org/drawingml/2006/main">
              <a:ext uri="{FF2B5EF4-FFF2-40B4-BE49-F238E27FC236}">
                <a16:creationId xmlns:a16="http://schemas.microsoft.com/office/drawing/2014/main" id="{7098D08E-3F1B-42C6-B307-B929B53E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6" y="2056890"/>
            <a:ext cx="6608437" cy="6375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95250" tIns="95250" rIns="95250" bIns="9525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  <a:r>
              <a:t>Equipment,Temperature,Pressure,Flow,Vibration,Timestamp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  <a:r>
              <a:t>Crude Oil Pump P-101,85,145,310,4.2,2026-09-12 14:21:52</a:t>
            </a:r>
          </a:p>
        </p:txBody>
      </p:sp>
      <p:sp>
        <p:nvSpPr>
          <p:cNvPr id="282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F08DDDE-825C-47EF-B4F8-F0EEC0C1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33500"/>
            <a:ext cx="3333750" cy="25922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Normal operating limits</a:t>
            </a:r>
          </a:p>
        </p:txBody>
      </p:sp>
      <p:sp>
        <p:nvSpPr>
          <p:cNvPr id="283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7B0E595-CBF3-4871-9D70-7A26BD33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180975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5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Temperature</a:t>
            </a:r>
          </a:p>
        </p:txBody>
      </p:sp>
      <p:sp>
        <p:nvSpPr>
          <p:cNvPr id="284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3D4CB7A-F192-48FA-A25D-E571ACB6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09750"/>
            <a:ext cx="171450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 algn="r">
              <a:lnSpc>
                <a:spcPct val="104999"/>
              </a:lnSpc>
              <a:buNone/>
              <a:defRPr sz="1500" b="1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70–95 °C</a:t>
            </a:r>
          </a:p>
        </p:txBody>
      </p:sp>
      <p:sp>
        <p:nvSpPr>
          <p:cNvPr id="285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0B71935-2265-4A44-A277-A4BFF9DB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180975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5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Pressure</a:t>
            </a:r>
          </a:p>
        </p:txBody>
      </p:sp>
      <p:sp>
        <p:nvSpPr>
          <p:cNvPr id="286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5EAA747-00E5-4B8E-B39D-C5EA424C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43150"/>
            <a:ext cx="171450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 algn="r">
              <a:lnSpc>
                <a:spcPct val="104999"/>
              </a:lnSpc>
              <a:buNone/>
              <a:defRPr sz="1500" b="1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130–160 bar</a:t>
            </a:r>
          </a:p>
        </p:txBody>
      </p:sp>
      <p:sp>
        <p:nvSpPr>
          <p:cNvPr id="287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20C1972-D952-4629-8957-8826E0FA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180975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5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Flow</a:t>
            </a:r>
          </a:p>
        </p:txBody>
      </p:sp>
      <p:sp>
        <p:nvSpPr>
          <p:cNvPr id="288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C84902B-A82A-4755-A7E8-23555272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76550"/>
            <a:ext cx="171450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 algn="r">
              <a:lnSpc>
                <a:spcPct val="104999"/>
              </a:lnSpc>
              <a:buNone/>
              <a:defRPr sz="1500" b="1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280–350 m³/h</a:t>
            </a:r>
          </a:p>
        </p:txBody>
      </p:sp>
      <p:sp>
        <p:nvSpPr>
          <p:cNvPr id="289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4AA4417-27DD-4E7F-B10D-3C191259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09950"/>
            <a:ext cx="180975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5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Vibration</a:t>
            </a:r>
          </a:p>
        </p:txBody>
      </p:sp>
      <p:sp>
        <p:nvSpPr>
          <p:cNvPr id="290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C11A8504-54D8-4259-ADEE-7AE96314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09950"/>
            <a:ext cx="171450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 algn="r">
              <a:lnSpc>
                <a:spcPct val="104999"/>
              </a:lnSpc>
              <a:buNone/>
              <a:defRPr sz="1500" b="1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2–7 mm/s</a:t>
            </a:r>
          </a:p>
        </p:txBody>
      </p:sp>
      <p:sp>
        <p:nvSpPr>
          <p:cNvPr id="291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81ACE88-A9B5-47A4-9B81-5037FDA3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429000" cy="25922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Simulation behavior</a:t>
            </a:r>
          </a:p>
        </p:txBody>
      </p:sp>
      <p:sp>
        <p:nvSpPr>
          <p:cNvPr id="29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D0902D1-B958-4CBA-AEC1-230BD480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49"/>
            <a:ext cx="6667500" cy="122587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indent="127000">
              <a:lnSpc>
                <a:spcPct val="102000"/>
              </a:lnSpc>
              <a:spcBef>
                <a:spcPts val="800"/>
              </a:spcBef>
              <a:buNone/>
              <a:defRPr sz="1600">
                <a:solidFill>
                  <a:srgbClr val="182833"/>
                </a:solidFill>
                <a:latin typeface="Arial"/>
                <a:ea typeface="Arial"/>
                <a:cs typeface="Arial"/>
              </a:defRPr>
            </a:pPr>
            <a:r>
              <a:t>Randomly selects one of four equipment units for each event</a:t>
            </a:r>
          </a:p>
          <a:p xmlns:a="http://schemas.openxmlformats.org/drawingml/2006/main">
            <a:pPr indent="127000">
              <a:lnSpc>
                <a:spcPct val="102000"/>
              </a:lnSpc>
              <a:spcBef>
                <a:spcPts val="800"/>
              </a:spcBef>
              <a:buNone/>
              <a:defRPr sz="1600">
                <a:solidFill>
                  <a:srgbClr val="182833"/>
                </a:solidFill>
                <a:latin typeface="Arial"/>
                <a:ea typeface="Arial"/>
                <a:cs typeface="Arial"/>
              </a:defRPr>
            </a:pPr>
            <a:r>
              <a:t>Generates temperature, pressure, flow, and vibration measurements</a:t>
            </a:r>
          </a:p>
          <a:p xmlns:a="http://schemas.openxmlformats.org/drawingml/2006/main">
            <a:pPr indent="127000">
              <a:lnSpc>
                <a:spcPct val="102000"/>
              </a:lnSpc>
              <a:spcBef>
                <a:spcPts val="800"/>
              </a:spcBef>
              <a:buNone/>
              <a:defRPr sz="1600">
                <a:solidFill>
                  <a:srgbClr val="182833"/>
                </a:solidFill>
                <a:latin typeface="Arial"/>
                <a:ea typeface="Arial"/>
                <a:cs typeface="Arial"/>
              </a:defRPr>
            </a:pPr>
            <a:r>
              <a:t>Injects high temperature or vibration every fifth event</a:t>
            </a:r>
          </a:p>
          <a:p xmlns:a="http://schemas.openxmlformats.org/drawingml/2006/main">
            <a:pPr indent="127000">
              <a:lnSpc>
                <a:spcPct val="102000"/>
              </a:lnSpc>
              <a:spcBef>
                <a:spcPts val="800"/>
              </a:spcBef>
              <a:buNone/>
              <a:defRPr sz="1600">
                <a:solidFill>
                  <a:srgbClr val="182833"/>
                </a:solidFill>
                <a:latin typeface="Arial"/>
                <a:ea typeface="Arial"/>
                <a:cs typeface="Arial"/>
              </a:defRPr>
            </a:pPr>
            <a:r>
              <a:t>Appends a CSV line to sensor_stream.txt, then waits two seconds</a:t>
            </a:r>
          </a:p>
        </p:txBody>
      </p:sp>
      <p:sp>
        <p:nvSpPr>
          <p:cNvPr id="293" name="Illustrative CSV record">
            <a:extLst xmlns:a="http://schemas.openxmlformats.org/drawingml/2006/main">
              <a:ext uri="{FF2B5EF4-FFF2-40B4-BE49-F238E27FC236}">
                <a16:creationId xmlns:a16="http://schemas.microsoft.com/office/drawing/2014/main" id="{76C101CA-2F17-4AEA-8FBC-BE1992B3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68" y="3171826"/>
            <a:ext cx="6290314" cy="26425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66C7C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Illustrative CSV record</a:t>
            </a:r>
          </a:p>
        </p:txBody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F0A461DD-EB01-4BF9-9D81-9600301E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38566791"/>
      </p:ext>
    </p:extLst>
  </p:cSld>
</p:sld>
</file>

<file path=ppt/slides/slide1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2499F8D-FAD0-456E-AF04-F2AEBD4B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298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0753131-843F-4383-88D4-2F3080BA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299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979DD2E-42BE-448F-8F79-408C015A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300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C2E305-62C7-4DAD-B519-23E82CF4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1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418D482-1C35-44F7-8ADF-2BC6D2AC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302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B5518C0-7316-49A7-813E-0AB9286D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303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EA90F43-12B1-4E1A-AAFB-741AB4E9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304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EC6B5E9-EB57-4332-85AD-F8494856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305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2459D3D-EBFC-47A7-9D26-2FEA5D58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306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43F184A-E54D-47FD-9D38-1831C13D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48"/>
            <a:ext cx="10668000" cy="4566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2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Flume agent configuration</a:t>
            </a:r>
          </a:p>
        </p:txBody>
      </p:sp>
      <p:sp>
        <p:nvSpPr>
          <p:cNvPr id="307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B0019F41-DDD7-4A0A-BDC2-FD2F955F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6400800"/>
            <a:ext cx="1097280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8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24F26CE-2526-4B1C-9482-21A0AC2F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099"/>
            <a:ext cx="4381500" cy="13554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0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sp>
        <p:nvSpPr>
          <p:cNvPr id="310" name="Rectangle: Rounded Corners 13">
            <a:extLst xmlns:a="http://schemas.openxmlformats.org/drawingml/2006/main">
              <a:ext uri="{FF2B5EF4-FFF2-40B4-BE49-F238E27FC236}">
                <a16:creationId xmlns:a16="http://schemas.microsoft.com/office/drawing/2014/main" id="{E801DC6D-73B7-45C7-8481-9CA1B00B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619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76C7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1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F594560-19D5-4ADC-B473-BD5836E4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465"/>
            <a:ext cx="131445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SOURCE</a:t>
            </a:r>
          </a:p>
        </p:txBody>
      </p:sp>
      <p:sp>
        <p:nvSpPr>
          <p:cNvPr id="312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8BAD1BA-10BA-4868-A01A-7A14DFE1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32609"/>
            <a:ext cx="1314450" cy="53532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2000"/>
              </a:lnSpc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Reads existing lines, then waits for appended lines</a:t>
            </a:r>
          </a:p>
        </p:txBody>
      </p:sp>
      <p:sp>
        <p:nvSpPr>
          <p:cNvPr id="313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AA96D12C-AD77-4EF0-A779-B3861A90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52550"/>
            <a:ext cx="885825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</a:p>
        </p:txBody>
      </p:sp>
      <p:sp>
        <p:nvSpPr>
          <p:cNvPr id="314" name="type = exec…">
            <a:extLst xmlns:a="http://schemas.openxmlformats.org/drawingml/2006/main">
              <a:ext uri="{FF2B5EF4-FFF2-40B4-BE49-F238E27FC236}">
                <a16:creationId xmlns:a16="http://schemas.microsoft.com/office/drawing/2014/main" id="{ADF2A8BC-937B-4D49-83DA-A0BE207D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569" y="1611094"/>
            <a:ext cx="8694412" cy="80772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95250" tIns="95250" rIns="95250" bIns="9525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type = exec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shell = powershell.exe -NoProfile -Command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command = Get-Content -Path '.../sensor_stream.txt' -Wait</a:t>
            </a:r>
          </a:p>
        </p:txBody>
      </p:sp>
      <p:sp>
        <p:nvSpPr>
          <p:cNvPr id="315" name="Rectangle: Rounded Corners 17">
            <a:extLst xmlns:a="http://schemas.openxmlformats.org/drawingml/2006/main">
              <a:ext uri="{FF2B5EF4-FFF2-40B4-BE49-F238E27FC236}">
                <a16:creationId xmlns:a16="http://schemas.microsoft.com/office/drawing/2014/main" id="{93B5CC8A-71C4-4D84-84C7-5E17F876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619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6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A97CCB8-B68C-4A25-A490-062DC867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16"/>
            <a:ext cx="131445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CHANNEL</a:t>
            </a:r>
          </a:p>
        </p:txBody>
      </p:sp>
      <p:sp>
        <p:nvSpPr>
          <p:cNvPr id="317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3456E7E-609A-4E7B-9063-2B4C299D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4211"/>
            <a:ext cx="1314450" cy="53532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2000"/>
              </a:lnSpc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Buffers events in RAM for fast handoff</a:t>
            </a:r>
          </a:p>
        </p:txBody>
      </p:sp>
      <p:sp>
        <p:nvSpPr>
          <p:cNvPr id="318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EAE1AF64-B8E6-4CAD-B5BA-6B400A71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19400"/>
            <a:ext cx="88582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</a:p>
        </p:txBody>
      </p:sp>
      <p:sp>
        <p:nvSpPr>
          <p:cNvPr id="319" name="type = memory…">
            <a:extLst xmlns:a="http://schemas.openxmlformats.org/drawingml/2006/main">
              <a:ext uri="{FF2B5EF4-FFF2-40B4-BE49-F238E27FC236}">
                <a16:creationId xmlns:a16="http://schemas.microsoft.com/office/drawing/2014/main" id="{53F633A4-A9FA-43C7-9A2A-0959C7E9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569" y="2982695"/>
            <a:ext cx="8694412" cy="80772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95250" tIns="95250" rIns="95250" bIns="9525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type = memory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capacity = 1000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transactionCapacity = 100</a:t>
            </a:r>
          </a:p>
        </p:txBody>
      </p:sp>
      <p:sp>
        <p:nvSpPr>
          <p:cNvPr id="320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BBC2A930-D91C-4D9B-A6AF-9CA56D9A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619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C37B08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1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1666AB6-9655-4FD2-AB9D-1CD55713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666"/>
            <a:ext cx="131445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SINK</a:t>
            </a:r>
          </a:p>
        </p:txBody>
      </p:sp>
      <p:sp>
        <p:nvSpPr>
          <p:cNvPr id="3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953BD7C-EAE8-43F6-A8FC-27D76AC5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85182"/>
            <a:ext cx="1314450" cy="71658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2000"/>
              </a:lnSpc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Writes local files and rolls to a new file every 30 seconds</a:t>
            </a:r>
          </a:p>
        </p:txBody>
      </p:sp>
      <p:sp>
        <p:nvSpPr>
          <p:cNvPr id="323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660975C1-4C48-4B3B-9521-3817B1A4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95750"/>
            <a:ext cx="885825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</a:p>
        </p:txBody>
      </p:sp>
      <p:sp>
        <p:nvSpPr>
          <p:cNvPr id="324" name="type = file_roll…">
            <a:extLst xmlns:a="http://schemas.openxmlformats.org/drawingml/2006/main">
              <a:ext uri="{FF2B5EF4-FFF2-40B4-BE49-F238E27FC236}">
                <a16:creationId xmlns:a16="http://schemas.microsoft.com/office/drawing/2014/main" id="{71D82F95-DBE9-4AB9-A5C0-9144A2CB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569" y="4354295"/>
            <a:ext cx="8694412" cy="80772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95250" tIns="95250" rIns="95250" bIns="9525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type = file_roll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sink.directory = C:/LAB_CODE/3rdsem/oilgas/output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sink.rollInterval = 30</a:t>
            </a:r>
          </a:p>
        </p:txBody>
      </p:sp>
      <p:sp>
        <p:nvSpPr>
          <p:cNvPr id="325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9A7E21C-69E9-48E4-AB21-93732A99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598"/>
            <a:ext cx="6096000" cy="1778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200">
                <a:solidFill>
                  <a:srgbClr val="08777B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buNone/>
            </a:pPr>
            <a:r>
              <a:t>a1.sources.source1.channels = channel1</a:t>
            </a:r>
          </a:p>
        </p:txBody>
      </p:sp>
      <p:sp>
        <p:nvSpPr>
          <p:cNvPr id="326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70E41A1-B878-46FB-AB61-9AD70A0A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62598"/>
            <a:ext cx="4667250" cy="1778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200">
                <a:solidFill>
                  <a:srgbClr val="9A6400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buNone/>
            </a:pPr>
            <a:r>
              <a:t>a1.sinks.sink1.channel = channel1</a:t>
            </a:r>
          </a:p>
        </p:txBody>
      </p:sp>
      <p:sp>
        <p:nvSpPr>
          <p:cNvPr id="327" name="Configuration file: apache-flume-1.11.0-bin/conf/oilgas.conf">
            <a:extLst xmlns:a="http://schemas.openxmlformats.org/drawingml/2006/main">
              <a:ext uri="{FF2B5EF4-FFF2-40B4-BE49-F238E27FC236}">
                <a16:creationId xmlns:a16="http://schemas.microsoft.com/office/drawing/2014/main" id="{A256C9CA-FDD4-4EFD-A1D1-145D6280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8" y="6143626"/>
            <a:ext cx="10576564" cy="28882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400">
                <a:solidFill>
                  <a:srgbClr val="566C7C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Configuration file: apache-flume-1.11.0-bin/conf/oilgas.conf</a:t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92E71D05-ED69-47CC-9AA4-1ECD21E8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62138413"/>
      </p:ext>
    </p:extLst>
  </p:cSld>
</p:sld>
</file>

<file path=ppt/slides/slide1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1" name="Implementation environment and setup">
            <a:extLst xmlns:a="http://schemas.openxmlformats.org/drawingml/2006/main">
              <a:ext uri="{FF2B5EF4-FFF2-40B4-BE49-F238E27FC236}">
                <a16:creationId xmlns:a16="http://schemas.microsoft.com/office/drawing/2014/main" id="{218E148F-3DA8-4476-94CA-D0AE5C51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17" y="590549"/>
            <a:ext cx="10862316" cy="51077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000" b="1">
                <a:solidFill>
                  <a:srgbClr val="0B24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 environment and setup</a:t>
            </a:r>
          </a:p>
        </p:txBody>
      </p:sp>
      <p:sp>
        <p:nvSpPr>
          <p:cNvPr id="332" name="Architecture and Streaming using Apache Flume">
            <a:extLst xmlns:a="http://schemas.openxmlformats.org/drawingml/2006/main">
              <a:ext uri="{FF2B5EF4-FFF2-40B4-BE49-F238E27FC236}">
                <a16:creationId xmlns:a16="http://schemas.microsoft.com/office/drawing/2014/main" id="{4CDEC112-0EDD-4819-B087-4A30078C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18" y="6515099"/>
            <a:ext cx="7528563" cy="21469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900">
                <a:solidFill>
                  <a:srgbClr val="566C7C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sp>
        <p:nvSpPr>
          <p:cNvPr id="333" name="Languages and packages">
            <a:extLst xmlns:a="http://schemas.openxmlformats.org/drawingml/2006/main">
              <a:ext uri="{FF2B5EF4-FFF2-40B4-BE49-F238E27FC236}">
                <a16:creationId xmlns:a16="http://schemas.microsoft.com/office/drawing/2014/main" id="{ED417A2E-7366-4741-BC25-0408D6E2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7" y="1428749"/>
            <a:ext cx="5004441" cy="35065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0877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Languages and packages</a:t>
            </a:r>
          </a:p>
        </p:txBody>
      </p:sp>
      <p:sp>
        <p:nvSpPr>
          <p:cNvPr id="334" name="Java runs Apache Flume 1.11.0.…">
            <a:extLst xmlns:a="http://schemas.openxmlformats.org/drawingml/2006/main">
              <a:ext uri="{FF2B5EF4-FFF2-40B4-BE49-F238E27FC236}">
                <a16:creationId xmlns:a16="http://schemas.microsoft.com/office/drawing/2014/main" id="{1047C7F2-455B-45B6-AB33-E88A855E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7" y="1866900"/>
            <a:ext cx="5004441" cy="84637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>
                <a:solidFill>
                  <a:srgbClr val="253D4D"/>
                </a:solidFill>
                <a:latin typeface="Arial"/>
                <a:ea typeface="Arial"/>
                <a:cs typeface="Arial"/>
              </a:defRPr>
            </a:pPr>
            <a:r>
              <a:t>Java runs Apache Flume 1.11.0.</a:t>
            </a:r>
          </a:p>
          <a:p xmlns:a="http://schemas.openxmlformats.org/drawingml/2006/main">
            <a:pPr>
              <a:buNone/>
              <a:defRPr sz="1700">
                <a:solidFill>
                  <a:srgbClr val="253D4D"/>
                </a:solidFill>
                <a:latin typeface="Arial"/>
                <a:ea typeface="Arial"/>
                <a:cs typeface="Arial"/>
              </a:defRPr>
            </a:pPr>
            <a:r>
              <a:t>PowerShell generates and follows CSV events.</a:t>
            </a:r>
          </a:p>
          <a:p xmlns:a="http://schemas.openxmlformats.org/drawingml/2006/main">
            <a:pPr>
              <a:buNone/>
              <a:defRPr sz="1700">
                <a:solidFill>
                  <a:srgbClr val="253D4D"/>
                </a:solidFill>
                <a:latin typeface="Arial"/>
                <a:ea typeface="Arial"/>
                <a:cs typeface="Arial"/>
              </a:defRPr>
            </a:pPr>
            <a:r>
              <a:t>Python uses Streamlit and pandas.</a:t>
            </a:r>
          </a:p>
        </p:txBody>
      </p:sp>
      <p:sp>
        <p:nvSpPr>
          <p:cNvPr id="335" name="Preparation in PowerShell">
            <a:extLst xmlns:a="http://schemas.openxmlformats.org/drawingml/2006/main">
              <a:ext uri="{FF2B5EF4-FFF2-40B4-BE49-F238E27FC236}">
                <a16:creationId xmlns:a16="http://schemas.microsoft.com/office/drawing/2014/main" id="{FAB763EE-7461-42C5-A5B7-1651F3D8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7" y="3314699"/>
            <a:ext cx="10576566" cy="37522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000" b="1">
                <a:solidFill>
                  <a:srgbClr val="0877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Preparation in PowerShell</a:t>
            </a:r>
          </a:p>
        </p:txBody>
      </p:sp>
      <p:sp>
        <p:nvSpPr>
          <p:cNvPr id="336" name="java -version…">
            <a:extLst xmlns:a="http://schemas.openxmlformats.org/drawingml/2006/main">
              <a:ext uri="{FF2B5EF4-FFF2-40B4-BE49-F238E27FC236}">
                <a16:creationId xmlns:a16="http://schemas.microsoft.com/office/drawing/2014/main" id="{BBA1341C-0376-40D4-9282-FE8CEB0B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7" y="3781426"/>
            <a:ext cx="10671816" cy="16027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java -version</a:t>
            </a:r>
          </a:p>
          <a:p xmlns:a="http://schemas.openxmlformats.org/drawingml/2006/main">
            <a:pPr>
              <a:buNone/>
              <a:defRPr sz="15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py --version</a:t>
            </a:r>
          </a:p>
          <a:p xmlns:a="http://schemas.openxmlformats.org/drawingml/2006/main">
            <a:pPr>
              <a:buNone/>
              <a:defRPr sz="15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py -m pip install streamlit pandas</a:t>
            </a:r>
          </a:p>
          <a:p xmlns:a="http://schemas.openxmlformats.org/drawingml/2006/main">
            <a:pPr>
              <a:buNone/>
              <a:defRPr sz="15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New-Item -ItemType Directory -Force C:\LAB_CODE\3rdsem\oilgas\output</a:t>
            </a:r>
          </a:p>
          <a:p xmlns:a="http://schemas.openxmlformats.org/drawingml/2006/main">
            <a:pPr>
              <a:buNone/>
              <a:defRPr sz="15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if (!(Test-Path C:\LAB_CODE\3rdsem\oilgas\sensor_stream.txt)) {</a:t>
            </a:r>
          </a:p>
          <a:p xmlns:a="http://schemas.openxmlformats.org/drawingml/2006/main">
            <a:pPr>
              <a:buNone/>
              <a:defRPr sz="15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  New-Item -ItemType File C:\LAB_CODE\3rdsem\oilgas\sensor_stream.txt</a:t>
            </a:r>
          </a:p>
          <a:p xmlns:a="http://schemas.openxmlformats.org/drawingml/2006/main">
            <a:pPr>
              <a:buNone/>
              <a:defRPr sz="15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}</a:t>
            </a:r>
          </a:p>
        </p:txBody>
      </p:sp>
      <p:sp>
        <p:nvSpPr>
          <p:cNvPr id="338" name="Project folders">
            <a:extLst xmlns:a="http://schemas.openxmlformats.org/drawingml/2006/main">
              <a:ext uri="{FF2B5EF4-FFF2-40B4-BE49-F238E27FC236}">
                <a16:creationId xmlns:a16="http://schemas.microsoft.com/office/drawing/2014/main" id="{B89EF515-86DC-4F32-931C-9ADF30EB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718" y="1390651"/>
            <a:ext cx="4861563" cy="37522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000" b="1">
                <a:solidFill>
                  <a:srgbClr val="0877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Project folders</a:t>
            </a:r>
          </a:p>
        </p:txBody>
      </p:sp>
      <p:sp>
        <p:nvSpPr>
          <p:cNvPr id="339" name="Root: C:\LAB_CODE\3rdsem…">
            <a:extLst xmlns:a="http://schemas.openxmlformats.org/drawingml/2006/main">
              <a:ext uri="{FF2B5EF4-FFF2-40B4-BE49-F238E27FC236}">
                <a16:creationId xmlns:a16="http://schemas.microsoft.com/office/drawing/2014/main" id="{7BA527ED-A538-4B2F-9626-C4DCDBAB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718" y="1943100"/>
            <a:ext cx="4861563" cy="88406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253D4D"/>
                </a:solidFill>
                <a:latin typeface="Arial"/>
                <a:ea typeface="Arial"/>
                <a:cs typeface="Arial"/>
              </a:defRPr>
            </a:pPr>
            <a:r>
              <a:t>Root: C:\LAB_CODE\3rdsem</a:t>
            </a:r>
          </a:p>
          <a:p xmlns:a="http://schemas.openxmlformats.org/drawingml/2006/main">
            <a:pPr>
              <a:buNone/>
              <a:defRPr>
                <a:solidFill>
                  <a:srgbClr val="253D4D"/>
                </a:solidFill>
                <a:latin typeface="Arial"/>
                <a:ea typeface="Arial"/>
                <a:cs typeface="Arial"/>
              </a:defRPr>
            </a:pPr>
            <a:r>
              <a:t>Keep oilgas and apache-flume-1.11.0-bin</a:t>
            </a:r>
          </a:p>
          <a:p xmlns:a="http://schemas.openxmlformats.org/drawingml/2006/main">
            <a:pPr>
              <a:buNone/>
              <a:defRPr>
                <a:solidFill>
                  <a:srgbClr val="253D4D"/>
                </a:solidFill>
                <a:latin typeface="Arial"/>
                <a:ea typeface="Arial"/>
                <a:cs typeface="Arial"/>
              </a:defRPr>
            </a:pPr>
            <a:r>
              <a:t>as sibling folders.</a:t>
            </a:r>
          </a:p>
        </p:txBody>
      </p:sp>
      <p:sp>
        <p:nvSpPr>
          <p:cNvPr id="340" name="Install the Flume binary distribution separately. Update all configured paths together if relocating the project.">
            <a:extLst xmlns:a="http://schemas.openxmlformats.org/drawingml/2006/main">
              <a:ext uri="{FF2B5EF4-FFF2-40B4-BE49-F238E27FC236}">
                <a16:creationId xmlns:a16="http://schemas.microsoft.com/office/drawing/2014/main" id="{9423C92E-F721-4076-91D3-ADA2D2CE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8" y="6029325"/>
            <a:ext cx="10728964" cy="30110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66C7C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Install the Flume binary distribution separately. Update all configured paths together if relocating the project.</a:t>
            </a:r>
          </a:p>
        </p:txBody>
      </p:sp>
      <p:sp>
        <p:nvSpPr>
          <p:cNvPr id="341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12746F67-AE1D-4933-BB4E-B84A9F10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34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A152536-CE48-4D68-B68A-A2E79CE3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34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A81F1DA-0CE1-471D-B6E8-CA840685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34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7B0E7D0-4C6D-4100-8563-624B7D86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34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9BFEFB5-2088-4D5C-93AC-08CC4936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BECBA1E-C2EF-421F-ABFC-387E1BC2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34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A4D7CE5-E849-4708-9060-5DFAAD0A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34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1870745-919A-4A20-8CCA-9B34BB5D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34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A5088EC-7463-4EB5-B5BC-8462668D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C1ADF01E-49DD-4273-864F-08167A81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41540990"/>
      </p:ext>
    </p:extLst>
  </p:cSld>
</p:sld>
</file>

<file path=ppt/slides/slide1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3" name="Architecture and Streaming using Apache Flume">
            <a:extLst xmlns:a="http://schemas.openxmlformats.org/drawingml/2006/main">
              <a:ext uri="{FF2B5EF4-FFF2-40B4-BE49-F238E27FC236}">
                <a16:creationId xmlns:a16="http://schemas.microsoft.com/office/drawing/2014/main" id="{6558F09F-FA89-4D6F-AA63-E1A3C9B8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17" y="6515099"/>
            <a:ext cx="9433566" cy="21469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900">
                <a:solidFill>
                  <a:srgbClr val="566C7C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sp>
        <p:nvSpPr>
          <p:cNvPr id="354" name="$counter = 0…">
            <a:extLst xmlns:a="http://schemas.openxmlformats.org/drawingml/2006/main">
              <a:ext uri="{FF2B5EF4-FFF2-40B4-BE49-F238E27FC236}">
                <a16:creationId xmlns:a16="http://schemas.microsoft.com/office/drawing/2014/main" id="{293A03C1-BE89-41A0-BD32-1FA0ED74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0820400" cy="2263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$counter++</a:t>
            </a:r>
          </a:p>
          <a:p xmlns:a="http://schemas.openxmlformats.org/drawingml/2006/main">
            <a:pPr>
              <a:buNone/>
              <a:defRPr sz="17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if ($counter % 5 -eq 0) {</a:t>
            </a:r>
          </a:p>
          <a:p xmlns:a="http://schemas.openxmlformats.org/drawingml/2006/main">
            <a:pPr>
              <a:buNone/>
              <a:defRPr sz="17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    $alertType = Get-Random -Minimum 1 -Maximum 3</a:t>
            </a:r>
          </a:p>
          <a:p xmlns:a="http://schemas.openxmlformats.org/drawingml/2006/main">
            <a:pPr>
              <a:buNone/>
              <a:defRPr sz="17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    if ($alertType -eq 1) {</a:t>
            </a:r>
          </a:p>
          <a:p xmlns:a="http://schemas.openxmlformats.org/drawingml/2006/main">
            <a:pPr>
              <a:buNone/>
              <a:defRPr sz="17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        $temperature = (Get-Random -Minimum 960 -Maximum 1101) / 10.0</a:t>
            </a:r>
          </a:p>
          <a:p xmlns:a="http://schemas.openxmlformats.org/drawingml/2006/main">
            <a:pPr>
              <a:buNone/>
              <a:defRPr sz="17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    } else {</a:t>
            </a:r>
          </a:p>
          <a:p xmlns:a="http://schemas.openxmlformats.org/drawingml/2006/main">
            <a:pPr>
              <a:buNone/>
              <a:defRPr sz="17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        $vibration = (Get-Random -Minimum 80 -Maximum 121) / 10.0</a:t>
            </a:r>
          </a:p>
          <a:p xmlns:a="http://schemas.openxmlformats.org/drawingml/2006/main">
            <a:pPr>
              <a:buNone/>
              <a:defRPr sz="17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    }</a:t>
            </a:r>
          </a:p>
          <a:p xmlns:a="http://schemas.openxmlformats.org/drawingml/2006/main">
            <a:pPr>
              <a:buNone/>
              <a:defRPr sz="17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pPr>
            <a:r>
              <a:t>}</a:t>
            </a:r>
          </a:p>
        </p:txBody>
      </p:sp>
      <p:sp>
        <p:nvSpPr>
          <p:cNvPr id="355" name="The source selects one of four assets and can choose any of four parameters for a critical event.">
            <a:extLst xmlns:a="http://schemas.openxmlformats.org/drawingml/2006/main">
              <a:ext uri="{FF2B5EF4-FFF2-40B4-BE49-F238E27FC236}">
                <a16:creationId xmlns:a16="http://schemas.microsoft.com/office/drawing/2014/main" id="{E5AB1FCA-5716-4BD6-8F0D-A5122518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49"/>
            <a:ext cx="10820400" cy="61735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0877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Every fifth event raises temperature to 96–110 °C or vibration to 8–12 mm/s. The other parameters retain their generated normal values.</a:t>
            </a:r>
          </a:p>
        </p:txBody>
      </p:sp>
      <p:sp>
        <p:nvSpPr>
          <p:cNvPr id="357" name="PowerShell sensor simulator">
            <a:extLst xmlns:a="http://schemas.openxmlformats.org/drawingml/2006/main">
              <a:ext uri="{FF2B5EF4-FFF2-40B4-BE49-F238E27FC236}">
                <a16:creationId xmlns:a16="http://schemas.microsoft.com/office/drawing/2014/main" id="{14728821-9D76-4C5E-AC1D-F2A80057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18" y="590550"/>
            <a:ext cx="10881364" cy="49849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900" b="1">
                <a:solidFill>
                  <a:srgbClr val="0B24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PowerShell sensor simulator</a:t>
            </a:r>
          </a:p>
        </p:txBody>
      </p:sp>
      <p:sp>
        <p:nvSpPr>
          <p:cNvPr id="358" name="Abnormal-event generation">
            <a:extLst xmlns:a="http://schemas.openxmlformats.org/drawingml/2006/main">
              <a:ext uri="{FF2B5EF4-FFF2-40B4-BE49-F238E27FC236}">
                <a16:creationId xmlns:a16="http://schemas.microsoft.com/office/drawing/2014/main" id="{1A1CB9B2-67E5-44AF-8410-91022E33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8" y="1390651"/>
            <a:ext cx="10671814" cy="37522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000" b="1">
                <a:solidFill>
                  <a:srgbClr val="0877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Abnormal-event generation</a:t>
            </a:r>
          </a:p>
        </p:txBody>
      </p:sp>
      <p:sp>
        <p:nvSpPr>
          <p:cNvPr id="359" name="Source: oilgas/simulate_sensor.ps1">
            <a:extLst xmlns:a="http://schemas.openxmlformats.org/drawingml/2006/main">
              <a:ext uri="{FF2B5EF4-FFF2-40B4-BE49-F238E27FC236}">
                <a16:creationId xmlns:a16="http://schemas.microsoft.com/office/drawing/2014/main" id="{D12F536B-78F7-4E42-A578-7F080228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8" y="6076951"/>
            <a:ext cx="10728964" cy="28882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400">
                <a:solidFill>
                  <a:srgbClr val="566C7C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Source: oilgas/simulate_sensor.ps1</a:t>
            </a:r>
          </a:p>
        </p:txBody>
      </p:sp>
      <p:sp>
        <p:nvSpPr>
          <p:cNvPr id="360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2042663-0B7A-4F16-99B1-B756D1C6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3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634535-266E-4FF6-A2FB-BCAE6580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36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0A05CC3-F5EA-4C8C-AA81-4C70A6AD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36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6C0B8B3-3B19-42E7-BA62-EDC438DA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36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EDFDE33-8CAA-4EE2-B8EC-10B3A3AA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442D5D1-FA55-4EA5-AECA-9D762449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36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44898E-9ED2-4887-AC29-E45C6870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36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454229F-7D0E-498A-8943-7E28E87F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36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E6DA277-947E-442C-B0A6-DDCC5CC5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5B619DC7-FE80-4599-B393-EC5C07FB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872238"/>
      </p:ext>
    </p:extLst>
  </p:cSld>
</p:sld>
</file>

<file path=ppt/slides/slide1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2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510DAEB2-2C27-47F0-8448-D53CFC57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37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AF971A-E954-4089-A824-D604753F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37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9B9216D-F349-4B10-950B-31E8C1C3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37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11E28F-07D1-4021-A741-896F84C1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376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4280DAB-A19F-4056-B1B4-2D2F27C2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7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9B47416-978E-4AAD-9E8E-922BD184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378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F37B140-A481-496E-ADEF-14185B5E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379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53CE018-9F4B-4310-B9F4-702ABCCC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380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D15AFA6-1ACF-4EB0-A10E-A416D639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381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D628CB0-6578-4F44-92DB-9FF060A8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48"/>
            <a:ext cx="10668000" cy="4566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2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Dashboard logic and alert handling</a:t>
            </a:r>
          </a:p>
        </p:txBody>
      </p:sp>
      <p:sp>
        <p:nvSpPr>
          <p:cNvPr id="382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F4BB784D-E464-4E83-95E6-5283B5F7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6400800"/>
            <a:ext cx="1097280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3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3C1C111-F816-4C8E-86D3-A30718C0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099"/>
            <a:ext cx="4381500" cy="13554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0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sp>
        <p:nvSpPr>
          <p:cNvPr id="385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0200708-A894-4930-8395-DF87438F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499"/>
            <a:ext cx="4953000" cy="24693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7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Latest reading per equipment</a:t>
            </a:r>
          </a:p>
        </p:txBody>
      </p:sp>
      <p:sp>
        <p:nvSpPr>
          <p:cNvPr id="386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6FDBD574-A2F6-42C6-A1A8-BE908EDD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905375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071B2A"/>
          </a:solidFill>
          <a:ln xmlns:a="http://schemas.openxmlformats.org/drawingml/2006/main" w="1270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</a:p>
        </p:txBody>
      </p:sp>
      <p:sp>
        <p:nvSpPr>
          <p:cNvPr id="387" name="latest = (…">
            <a:extLst xmlns:a="http://schemas.openxmlformats.org/drawingml/2006/main">
              <a:ext uri="{FF2B5EF4-FFF2-40B4-BE49-F238E27FC236}">
                <a16:creationId xmlns:a16="http://schemas.microsoft.com/office/drawing/2014/main" id="{98622DBB-ADC2-406B-9ABB-A5B45657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5" y="1946832"/>
            <a:ext cx="4751065" cy="14097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95250" tIns="95250" rIns="95250" bIns="9525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  <a:r>
              <a:t>latest = (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3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  <a:r>
              <a:t>    df.sort_values("Timestamp")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3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  <a:r>
              <a:t>      .groupby("Equipment")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3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  <a:r>
              <a:t>      .tail(1)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3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  <a:r>
              <a:t>      .reset_index(drop=True)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3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  <a:r>
              <a:t>)</a:t>
            </a:r>
          </a:p>
        </p:txBody>
      </p:sp>
      <p:sp>
        <p:nvSpPr>
          <p:cNvPr id="388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56BC7B3-72BD-4FCA-B35F-6AF6B039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099"/>
            <a:ext cx="4953000" cy="24693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7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Threshold evaluation</a:t>
            </a:r>
          </a:p>
        </p:txBody>
      </p:sp>
      <p:sp>
        <p:nvSpPr>
          <p:cNvPr id="389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96210A4B-A66F-404E-8009-DB562F47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905375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71B2A"/>
          </a:solidFill>
          <a:ln xmlns:a="http://schemas.openxmlformats.org/drawingml/2006/main" w="1270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</a:p>
        </p:txBody>
      </p:sp>
      <p:sp>
        <p:nvSpPr>
          <p:cNvPr id="390" name="minimum, maximum, unit = LIMITS[parameter]…">
            <a:extLst xmlns:a="http://schemas.openxmlformats.org/drawingml/2006/main">
              <a:ext uri="{FF2B5EF4-FFF2-40B4-BE49-F238E27FC236}">
                <a16:creationId xmlns:a16="http://schemas.microsoft.com/office/drawing/2014/main" id="{C2A3B939-DBA7-45D2-8C43-A5E307F0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4" y="4355896"/>
            <a:ext cx="4751066" cy="136398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95250" tIns="95250" rIns="95250" bIns="9525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  <a:r>
              <a:t>minimum, maximum, unit = LIMITS[parameter]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  <a:r>
              <a:t>if value &lt; minimum: return True, "Below normal limit"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  <a:r>
              <a:t>if value &gt; maximum: return True, "Above normal limit"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  <a:r>
              <a:t>return False, ""</a:t>
            </a:r>
          </a:p>
        </p:txBody>
      </p:sp>
      <p:sp>
        <p:nvSpPr>
          <p:cNvPr id="391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8912827F-4AD7-4BE5-9F3A-B8E48BF1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00750" y="1390649"/>
            <a:ext cx="3" cy="447675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2" name="Oval 19">
            <a:extLst xmlns:a="http://schemas.openxmlformats.org/drawingml/2006/main">
              <a:ext uri="{FF2B5EF4-FFF2-40B4-BE49-F238E27FC236}">
                <a16:creationId xmlns:a16="http://schemas.microsoft.com/office/drawing/2014/main" id="{E6282D9D-A9DF-41FA-B291-C75AF572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47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3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0500FA0-92FC-4183-9F09-901ECC5E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51942"/>
            <a:ext cx="38100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</a:t>
            </a:r>
          </a:p>
        </p:txBody>
      </p:sp>
      <p:sp>
        <p:nvSpPr>
          <p:cNvPr id="394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1DA87BE-F03B-4006-A568-22B20645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57374"/>
            <a:ext cx="4095750" cy="41637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Check all four measurements against their configured limits</a:t>
            </a:r>
          </a:p>
        </p:txBody>
      </p:sp>
      <p:sp>
        <p:nvSpPr>
          <p:cNvPr id="395" name="Oval 22">
            <a:extLst xmlns:a="http://schemas.openxmlformats.org/drawingml/2006/main">
              <a:ext uri="{FF2B5EF4-FFF2-40B4-BE49-F238E27FC236}">
                <a16:creationId xmlns:a16="http://schemas.microsoft.com/office/drawing/2014/main" id="{4E0476E5-5C36-4C27-AF44-37B54941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FFCA495-4AE5-478E-AC8B-0D6C3E92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75842"/>
            <a:ext cx="38100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</a:t>
            </a:r>
          </a:p>
        </p:txBody>
      </p:sp>
      <p:sp>
        <p:nvSpPr>
          <p:cNvPr id="397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CF681F6A-E6FB-479F-A452-9E098AB2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81274"/>
            <a:ext cx="4095750" cy="41637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Count equipment with at least one abnormal measurement</a:t>
            </a:r>
          </a:p>
        </p:txBody>
      </p:sp>
      <p:sp>
        <p:nvSpPr>
          <p:cNvPr id="398" name="Oval 25">
            <a:extLst xmlns:a="http://schemas.openxmlformats.org/drawingml/2006/main">
              <a:ext uri="{FF2B5EF4-FFF2-40B4-BE49-F238E27FC236}">
                <a16:creationId xmlns:a16="http://schemas.microsoft.com/office/drawing/2014/main" id="{08B5FF30-D13B-4E95-B1F2-E0B2D007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9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27B6C6A-E2A1-455C-BF78-9A42DDAA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99742"/>
            <a:ext cx="38100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3</a:t>
            </a:r>
          </a:p>
        </p:txBody>
      </p:sp>
      <p:sp>
        <p:nvSpPr>
          <p:cNvPr id="400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22E6BBC-0CEB-4B3B-9B3C-BCC8E699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05173"/>
            <a:ext cx="4095750" cy="4163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Show Normal or Alert status for each equipment unit</a:t>
            </a:r>
          </a:p>
        </p:txBody>
      </p:sp>
      <p:sp>
        <p:nvSpPr>
          <p:cNvPr id="401" name="Oval 28">
            <a:extLst xmlns:a="http://schemas.openxmlformats.org/drawingml/2006/main">
              <a:ext uri="{FF2B5EF4-FFF2-40B4-BE49-F238E27FC236}">
                <a16:creationId xmlns:a16="http://schemas.microsoft.com/office/drawing/2014/main" id="{F5385D72-0EB2-4A01-974F-FC8DBFE2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9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2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84E7433D-7401-4E77-9C83-633FB902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23642"/>
            <a:ext cx="38100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</a:t>
            </a:r>
          </a:p>
        </p:txBody>
      </p:sp>
      <p:sp>
        <p:nvSpPr>
          <p:cNvPr id="403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6129FC19-2C65-49D8-A537-7540A5CF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29073"/>
            <a:ext cx="4095750" cy="19738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Display the parameter, value, and breached limit</a:t>
            </a:r>
          </a:p>
        </p:txBody>
      </p:sp>
      <p:sp>
        <p:nvSpPr>
          <p:cNvPr id="404" name="Oval 31">
            <a:extLst xmlns:a="http://schemas.openxmlformats.org/drawingml/2006/main">
              <a:ext uri="{FF2B5EF4-FFF2-40B4-BE49-F238E27FC236}">
                <a16:creationId xmlns:a16="http://schemas.microsoft.com/office/drawing/2014/main" id="{1883CE64-A8B1-40D7-9A32-682B02C2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5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17EBED92-B147-49DC-9C8F-5AEAACDD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47542"/>
            <a:ext cx="381000" cy="17281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5</a:t>
            </a:r>
          </a:p>
        </p:txBody>
      </p:sp>
      <p:sp>
        <p:nvSpPr>
          <p:cNvPr id="406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0622786B-57A1-488B-B91C-AD2A882F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52973"/>
            <a:ext cx="4095750" cy="4163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Refresh the latest readings and the 20 most recent events</a:t>
            </a:r>
          </a:p>
        </p:txBody>
      </p:sp>
      <p:sp>
        <p:nvSpPr>
          <p:cNvPr id="407" name="Dashboard output">
            <a:extLst xmlns:a="http://schemas.openxmlformats.org/drawingml/2006/main">
              <a:ext uri="{FF2B5EF4-FFF2-40B4-BE49-F238E27FC236}">
                <a16:creationId xmlns:a16="http://schemas.microsoft.com/office/drawing/2014/main" id="{8EE78B65-259E-46FF-90FD-B4DFDD2D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68" y="1409700"/>
            <a:ext cx="4861563" cy="36294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9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Dashboard output</a:t>
            </a:r>
          </a:p>
        </p:txBody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876775BF-91B4-47EA-98DE-2836D512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48774596"/>
      </p:ext>
    </p:extLst>
  </p:cSld>
</p:sld>
</file>

<file path=ppt/slides/slide1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1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2068A6C9-EE5F-4007-8A6D-D077D389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41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86E69E9-F29A-48F5-813E-161EFA55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4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F0F81C5-E0EC-48DF-BFB4-6CAF9737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41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D4953E3-2096-4AB9-A61F-0EB6FD6C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41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0382E58-19DC-4B60-B7A1-4BEE2EF3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B45B9B5-EB8F-4E9E-B9DB-705AA750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41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294C322-1A44-47D8-A720-37BE271E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41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4484834-FECE-4098-8A21-4F41ADFF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41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E83BFBA-B921-4731-AE12-4266682D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42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3A9AEB9-76B5-4313-946A-6A61C11F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48"/>
            <a:ext cx="10668000" cy="4566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2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Dashboard: read and normalize</a:t>
            </a:r>
          </a:p>
        </p:txBody>
      </p:sp>
      <p:sp>
        <p:nvSpPr>
          <p:cNvPr id="42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859EDB64-FDB1-4BD6-A750-456F96AF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6400800"/>
            <a:ext cx="1097280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8EA5B30-A3A8-4B26-8777-B77F3557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099"/>
            <a:ext cx="4381500" cy="13554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0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sp>
        <p:nvSpPr>
          <p:cNvPr id="42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1687213-F3C0-454B-B89B-A0A02082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4572000" cy="25922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read_flume_output()</a:t>
            </a:r>
          </a:p>
        </p:txBody>
      </p:sp>
      <p:sp>
        <p:nvSpPr>
          <p:cNvPr id="425" name="Oval 14">
            <a:extLst xmlns:a="http://schemas.openxmlformats.org/drawingml/2006/main">
              <a:ext uri="{FF2B5EF4-FFF2-40B4-BE49-F238E27FC236}">
                <a16:creationId xmlns:a16="http://schemas.microsoft.com/office/drawing/2014/main" id="{07BF955F-AAE4-41DF-8144-A650B845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9F1F8F5-73FE-4DC4-9D26-1C0FE194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3991"/>
            <a:ext cx="43815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</a:t>
            </a:r>
          </a:p>
        </p:txBody>
      </p:sp>
      <p:sp>
        <p:nvSpPr>
          <p:cNvPr id="42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77C235D-B68A-4C22-88B5-AFCE26B4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35198"/>
            <a:ext cx="4333875" cy="51328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7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Return an empty DataFrame when output/ is absent</a:t>
            </a:r>
          </a:p>
        </p:txBody>
      </p:sp>
      <p:sp>
        <p:nvSpPr>
          <p:cNvPr id="42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815E1727-467B-49E4-968F-A0BBECAC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49"/>
            <a:ext cx="0" cy="26670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9" name="Oval 18">
            <a:extLst xmlns:a="http://schemas.openxmlformats.org/drawingml/2006/main">
              <a:ext uri="{FF2B5EF4-FFF2-40B4-BE49-F238E27FC236}">
                <a16:creationId xmlns:a16="http://schemas.microsoft.com/office/drawing/2014/main" id="{648FFD13-E7A1-4ABF-9CEA-07DBB685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4442ECD-B5C0-4FA8-B9AD-BA834DD2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6941"/>
            <a:ext cx="43815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</a:t>
            </a:r>
          </a:p>
        </p:txBody>
      </p:sp>
      <p:sp>
        <p:nvSpPr>
          <p:cNvPr id="43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77A122C-CD8D-475C-866F-2FE84100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8478"/>
            <a:ext cx="4333875" cy="2469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7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Sort all sink files by modification time</a:t>
            </a:r>
          </a:p>
        </p:txBody>
      </p:sp>
      <p:sp>
        <p:nvSpPr>
          <p:cNvPr id="43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98A4C391-4C5D-4543-99B7-B8EACEBA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899"/>
            <a:ext cx="0" cy="26670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3" name="Oval 22">
            <a:extLst xmlns:a="http://schemas.openxmlformats.org/drawingml/2006/main">
              <a:ext uri="{FF2B5EF4-FFF2-40B4-BE49-F238E27FC236}">
                <a16:creationId xmlns:a16="http://schemas.microsoft.com/office/drawing/2014/main" id="{69B62343-60E5-4737-8149-8BBD4721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B432D6D-23D6-409C-A457-370D965E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891"/>
            <a:ext cx="43815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3</a:t>
            </a:r>
          </a:p>
        </p:txBody>
      </p:sp>
      <p:sp>
        <p:nvSpPr>
          <p:cNvPr id="43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989571E7-0E5D-4453-A31D-AEBD6450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21098"/>
            <a:ext cx="4333875" cy="51328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7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Strip lines and keep only six-field CSV records</a:t>
            </a:r>
          </a:p>
        </p:txBody>
      </p:sp>
      <p:sp>
        <p:nvSpPr>
          <p:cNvPr id="436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2A4AA032-F387-4BA6-9364-1FEB898B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49"/>
            <a:ext cx="0" cy="26670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7" name="Oval 26">
            <a:extLst xmlns:a="http://schemas.openxmlformats.org/drawingml/2006/main">
              <a:ext uri="{FF2B5EF4-FFF2-40B4-BE49-F238E27FC236}">
                <a16:creationId xmlns:a16="http://schemas.microsoft.com/office/drawing/2014/main" id="{9D28CC45-286A-42F4-8484-86623CF3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F51C748-56DF-475A-A4AF-F1472031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841"/>
            <a:ext cx="43815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</a:t>
            </a:r>
          </a:p>
        </p:txBody>
      </p:sp>
      <p:sp>
        <p:nvSpPr>
          <p:cNvPr id="43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E8D094F-BB29-42BA-BFF1-4B3469B9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64048"/>
            <a:ext cx="4333875" cy="51328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7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Convert four measurements and the timestamp</a:t>
            </a:r>
          </a:p>
        </p:txBody>
      </p:sp>
      <p:sp>
        <p:nvSpPr>
          <p:cNvPr id="44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7B98AF15-F397-45ED-9C6F-0B9C33D9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799"/>
            <a:ext cx="0" cy="26670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1" name="Oval 30">
            <a:extLst xmlns:a="http://schemas.openxmlformats.org/drawingml/2006/main">
              <a:ext uri="{FF2B5EF4-FFF2-40B4-BE49-F238E27FC236}">
                <a16:creationId xmlns:a16="http://schemas.microsoft.com/office/drawing/2014/main" id="{37E47C94-A4A5-4554-9B22-2FC4B498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094E5C22-BACC-48EF-B268-84567D6C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791"/>
            <a:ext cx="43815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5</a:t>
            </a:r>
          </a:p>
        </p:txBody>
      </p:sp>
      <p:sp>
        <p:nvSpPr>
          <p:cNvPr id="44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4E8CE17-B1F8-4CD7-9A7C-410321D8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37328"/>
            <a:ext cx="4333875" cy="2469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7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Drop rows with a null Equipment field</a:t>
            </a:r>
          </a:p>
        </p:txBody>
      </p:sp>
      <p:sp>
        <p:nvSpPr>
          <p:cNvPr id="444" name="Straight Connector 33">
            <a:extLst xmlns:a="http://schemas.openxmlformats.org/drawingml/2006/main">
              <a:ext uri="{FF2B5EF4-FFF2-40B4-BE49-F238E27FC236}">
                <a16:creationId xmlns:a16="http://schemas.microsoft.com/office/drawing/2014/main" id="{A6D12946-00F1-4D0C-AEA3-A33E6B65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96000" y="1381124"/>
            <a:ext cx="3" cy="428625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E276872A-5D07-4232-801B-4CB03257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33500"/>
            <a:ext cx="4286250" cy="25922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Input handling decisions</a:t>
            </a:r>
          </a:p>
        </p:txBody>
      </p:sp>
      <p:sp>
        <p:nvSpPr>
          <p:cNvPr id="44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5AD7805F-A498-4E81-B8FC-B6183B37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66899"/>
            <a:ext cx="457200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5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Malformed rows</a:t>
            </a:r>
          </a:p>
        </p:txBody>
      </p:sp>
      <p:sp>
        <p:nvSpPr>
          <p:cNvPr id="44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AEDA880F-46BD-48E4-BE3D-62C56BB5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899"/>
            <a:ext cx="4572000" cy="18509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Skip a line when len(parts) != 6</a:t>
            </a:r>
          </a:p>
        </p:txBody>
      </p:sp>
      <p:sp>
        <p:nvSpPr>
          <p:cNvPr id="44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DD10783B-75E9-4CA7-A52F-25467617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199"/>
            <a:ext cx="457200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5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Type conversion</a:t>
            </a:r>
          </a:p>
        </p:txBody>
      </p:sp>
      <p:sp>
        <p:nvSpPr>
          <p:cNvPr id="44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9F8B9E0C-F2CD-4FF3-9DAA-A8F3A7F6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24199"/>
            <a:ext cx="4572000" cy="18509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errors='coerce' for numeric values and timestamps</a:t>
            </a:r>
          </a:p>
        </p:txBody>
      </p:sp>
      <p:sp>
        <p:nvSpPr>
          <p:cNvPr id="45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061A0AF3-7328-4F7A-9BCB-B3330B69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498"/>
            <a:ext cx="4572000" cy="20966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5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File read failure</a:t>
            </a:r>
          </a:p>
        </p:txBody>
      </p:sp>
      <p:sp>
        <p:nvSpPr>
          <p:cNvPr id="45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A4449C6A-7064-4663-9F94-DB66C2B8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498"/>
            <a:ext cx="4572000" cy="185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Catch the exception and continue with remaining files</a:t>
            </a:r>
          </a:p>
        </p:txBody>
      </p:sp>
      <p:sp>
        <p:nvSpPr>
          <p:cNvPr id="45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4626D49C-BA61-4AE4-BE03-91542111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95798"/>
            <a:ext cx="4572000" cy="20966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5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Refresh model</a:t>
            </a:r>
          </a:p>
        </p:txBody>
      </p:sp>
      <p:sp>
        <p:nvSpPr>
          <p:cNvPr id="45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B07BDC07-CF26-470D-B97D-2F51BDC2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76798"/>
            <a:ext cx="4572000" cy="185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Sleep two seconds, rerun, and rescan all rolled files</a:t>
            </a:r>
          </a:p>
        </p:txBody>
      </p:sp>
      <p:sp>
        <p:nvSpPr>
          <p:cNvPr id="454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8AC39649-1CD1-4896-9399-23173C36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72100"/>
            <a:ext cx="45720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>
            <a:solidFill>
              <a:srgbClr val="F4D28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4999"/>
              </a:lnSpc>
              <a:buNone/>
              <a:defRPr sz="1300" b="1">
                <a:solidFill>
                  <a:srgbClr val="775000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455" name="Missing numeric values are skipped during alert checks. Invalid data can appear normal.">
            <a:extLst xmlns:a="http://schemas.openxmlformats.org/drawingml/2006/main">
              <a:ext uri="{FF2B5EF4-FFF2-40B4-BE49-F238E27FC236}">
                <a16:creationId xmlns:a16="http://schemas.microsoft.com/office/drawing/2014/main" id="{8A3A4BBC-C1EF-4D93-BCD6-1B2E0CC6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419" y="5471495"/>
            <a:ext cx="4408162" cy="57535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95250" tIns="95250" rIns="95250" bIns="95250" anchor="ctr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 b="1">
                <a:solidFill>
                  <a:srgbClr val="775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Missing numeric values are skipped during alert checks. Invalid data can appear normal.</a:t>
            </a:r>
          </a:p>
        </p:txBody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165DD7AA-8EE5-42DD-80E0-3D0EA8A3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19714134"/>
      </p:ext>
    </p:extLst>
  </p:cSld>
</p:sld>
</file>

<file path=ppt/slides/slide1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9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AD29BD4-A55F-4581-B891-0F9E8F94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460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EE4A116-D222-45A0-89D2-EAFD280C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461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33128A3-2877-48B9-B05D-9CB51A79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462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204A5-DE73-44E6-8FC7-24AE55CA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463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9120291-39C2-437C-A16B-53E7DE18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464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4A3F389-F2E6-4F92-9256-898FA8FC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85EF8AA-C546-4A0B-906C-57DC47A1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466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9FD002E-2DAC-4146-AD37-FE99882A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467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2F3C321-BC21-4103-9315-83E09B0E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468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BD82809-34E9-4C6B-9D1D-B2BC511B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48"/>
            <a:ext cx="10668000" cy="4566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2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Suitable use cases and production limits</a:t>
            </a:r>
          </a:p>
        </p:txBody>
      </p:sp>
      <p:sp>
        <p:nvSpPr>
          <p:cNvPr id="469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77D6CCE7-EDAB-4D7D-9ED0-2EC93BF9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6400800"/>
            <a:ext cx="1097280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0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762A88F-F160-4F7B-ACE9-63656516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099"/>
            <a:ext cx="4381500" cy="13554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0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sp>
        <p:nvSpPr>
          <p:cNvPr id="472" name="Rectangle: Rounded Corners 13">
            <a:extLst xmlns:a="http://schemas.openxmlformats.org/drawingml/2006/main">
              <a:ext uri="{FF2B5EF4-FFF2-40B4-BE49-F238E27FC236}">
                <a16:creationId xmlns:a16="http://schemas.microsoft.com/office/drawing/2014/main" id="{5DA79ED3-7FD3-443A-9780-9375F4EC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334000" cy="4495800"/>
          </a:xfrm>
          <a:prstGeom xmlns:a="http://schemas.openxmlformats.org/drawingml/2006/main" prst="roundRect">
            <a:avLst>
              <a:gd name="adj" fmla="val 3814"/>
            </a:avLst>
          </a:prstGeom>
          <a:solidFill xmlns:a="http://schemas.openxmlformats.org/drawingml/2006/main">
            <a:srgbClr val="E5F5EC"/>
          </a:solidFill>
          <a:ln xmlns:a="http://schemas.openxmlformats.org/drawingml/2006/main">
            <a:solidFill>
              <a:srgbClr val="C9E8D7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3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75A797B-2B71-472C-9873-BF925547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49"/>
            <a:ext cx="2381250" cy="3210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2200" b="1">
                <a:solidFill>
                  <a:srgbClr val="178B5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Good fit</a:t>
            </a:r>
          </a:p>
        </p:txBody>
      </p:sp>
      <p:sp>
        <p:nvSpPr>
          <p:cNvPr id="474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DBC16A9-8C4E-4CB6-AC83-4F3E6DA8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4524375" cy="264506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indent="127000">
              <a:lnSpc>
                <a:spcPct val="102000"/>
              </a:lnSpc>
              <a:spcBef>
                <a:spcPts val="1100"/>
              </a:spcBef>
              <a:buNone/>
              <a:defRPr sz="1600">
                <a:solidFill>
                  <a:srgbClr val="182833"/>
                </a:solidFill>
                <a:latin typeface="Arial"/>
                <a:ea typeface="Arial"/>
                <a:cs typeface="Arial"/>
              </a:defRPr>
            </a:pPr>
            <a:r>
              <a:t>Streaming-architecture demonstrations and laboratory exercises</a:t>
            </a:r>
          </a:p>
          <a:p xmlns:a="http://schemas.openxmlformats.org/drawingml/2006/main">
            <a:pPr indent="127000">
              <a:lnSpc>
                <a:spcPct val="102000"/>
              </a:lnSpc>
              <a:spcBef>
                <a:spcPts val="1100"/>
              </a:spcBef>
              <a:buNone/>
              <a:defRPr sz="1600">
                <a:solidFill>
                  <a:srgbClr val="182833"/>
                </a:solidFill>
                <a:latin typeface="Arial"/>
                <a:ea typeface="Arial"/>
                <a:cs typeface="Arial"/>
              </a:defRPr>
            </a:pPr>
            <a:r>
              <a:t>Equipment telemetry prototypes at a plant or edge location</a:t>
            </a:r>
          </a:p>
          <a:p xmlns:a="http://schemas.openxmlformats.org/drawingml/2006/main">
            <a:pPr indent="127000">
              <a:lnSpc>
                <a:spcPct val="102000"/>
              </a:lnSpc>
              <a:spcBef>
                <a:spcPts val="1100"/>
              </a:spcBef>
              <a:buNone/>
              <a:defRPr sz="1600">
                <a:solidFill>
                  <a:srgbClr val="182833"/>
                </a:solidFill>
                <a:latin typeface="Arial"/>
                <a:ea typeface="Arial"/>
                <a:cs typeface="Arial"/>
              </a:defRPr>
            </a:pPr>
            <a:r>
              <a:t>Central collection of application or machine logs</a:t>
            </a:r>
          </a:p>
          <a:p xmlns:a="http://schemas.openxmlformats.org/drawingml/2006/main">
            <a:pPr indent="127000">
              <a:lnSpc>
                <a:spcPct val="102000"/>
              </a:lnSpc>
              <a:spcBef>
                <a:spcPts val="1100"/>
              </a:spcBef>
              <a:buNone/>
              <a:defRPr sz="1600">
                <a:solidFill>
                  <a:srgbClr val="182833"/>
                </a:solidFill>
                <a:latin typeface="Arial"/>
                <a:ea typeface="Arial"/>
                <a:cs typeface="Arial"/>
              </a:defRPr>
            </a:pPr>
            <a:r>
              <a:t>Short-term file landing before downstream analysis</a:t>
            </a:r>
          </a:p>
          <a:p xmlns:a="http://schemas.openxmlformats.org/drawingml/2006/main">
            <a:pPr indent="127000">
              <a:lnSpc>
                <a:spcPct val="102000"/>
              </a:lnSpc>
              <a:spcBef>
                <a:spcPts val="1100"/>
              </a:spcBef>
              <a:buNone/>
              <a:defRPr sz="1600">
                <a:solidFill>
                  <a:srgbClr val="182833"/>
                </a:solidFill>
                <a:latin typeface="Arial"/>
                <a:ea typeface="Arial"/>
                <a:cs typeface="Arial"/>
              </a:defRPr>
            </a:pPr>
            <a:r>
              <a:t>Small deployments that favor simple configuration and speed</a:t>
            </a:r>
          </a:p>
        </p:txBody>
      </p:sp>
      <p:sp>
        <p:nvSpPr>
          <p:cNvPr id="475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E529BEB5-E4A0-4C82-9CC8-CE758595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52550"/>
            <a:ext cx="5334000" cy="4495800"/>
          </a:xfrm>
          <a:prstGeom xmlns:a="http://schemas.openxmlformats.org/drawingml/2006/main" prst="roundRect">
            <a:avLst>
              <a:gd name="adj" fmla="val 3814"/>
            </a:avLst>
          </a:prstGeom>
          <a:solidFill xmlns:a="http://schemas.openxmlformats.org/drawingml/2006/main">
            <a:srgbClr val="FCE9E7"/>
          </a:solidFill>
          <a:ln xmlns:a="http://schemas.openxmlformats.org/drawingml/2006/main">
            <a:solidFill>
              <a:srgbClr val="F1C5C1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6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1F83504-FC4C-4417-B75C-8A678936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49"/>
            <a:ext cx="2952750" cy="3210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2200" b="1">
                <a:solidFill>
                  <a:srgbClr val="C73E3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Needs hardening</a:t>
            </a:r>
          </a:p>
        </p:txBody>
      </p:sp>
      <p:sp>
        <p:nvSpPr>
          <p:cNvPr id="477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291C127-444D-4C0B-AFE5-724AE084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85999"/>
            <a:ext cx="4524375" cy="227232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indent="127000">
              <a:lnSpc>
                <a:spcPct val="102000"/>
              </a:lnSpc>
              <a:spcBef>
                <a:spcPts val="1100"/>
              </a:spcBef>
              <a:buNone/>
              <a:defRPr sz="1600">
                <a:solidFill>
                  <a:srgbClr val="182833"/>
                </a:solidFill>
                <a:latin typeface="Arial"/>
                <a:ea typeface="Arial"/>
                <a:cs typeface="Arial"/>
              </a:defRPr>
            </a:pPr>
            <a:r>
              <a:t>Safety-critical control or automated shutdown decisions</a:t>
            </a:r>
          </a:p>
          <a:p xmlns:a="http://schemas.openxmlformats.org/drawingml/2006/main">
            <a:pPr indent="127000">
              <a:lnSpc>
                <a:spcPct val="102000"/>
              </a:lnSpc>
              <a:spcBef>
                <a:spcPts val="1100"/>
              </a:spcBef>
              <a:buNone/>
              <a:defRPr sz="1600">
                <a:solidFill>
                  <a:srgbClr val="182833"/>
                </a:solidFill>
                <a:latin typeface="Arial"/>
                <a:ea typeface="Arial"/>
                <a:cs typeface="Arial"/>
              </a:defRPr>
            </a:pPr>
            <a:r>
              <a:t>Strict no-loss pipelines during agent or host failure</a:t>
            </a:r>
          </a:p>
          <a:p xmlns:a="http://schemas.openxmlformats.org/drawingml/2006/main">
            <a:pPr indent="127000">
              <a:lnSpc>
                <a:spcPct val="102000"/>
              </a:lnSpc>
              <a:spcBef>
                <a:spcPts val="1100"/>
              </a:spcBef>
              <a:buNone/>
              <a:defRPr sz="1600">
                <a:solidFill>
                  <a:srgbClr val="182833"/>
                </a:solidFill>
                <a:latin typeface="Arial"/>
                <a:ea typeface="Arial"/>
                <a:cs typeface="Arial"/>
              </a:defRPr>
            </a:pPr>
            <a:r>
              <a:t>High-volume analytics that repeatedly rescans every output file</a:t>
            </a:r>
          </a:p>
          <a:p xmlns:a="http://schemas.openxmlformats.org/drawingml/2006/main">
            <a:pPr indent="127000">
              <a:lnSpc>
                <a:spcPct val="102000"/>
              </a:lnSpc>
              <a:spcBef>
                <a:spcPts val="1100"/>
              </a:spcBef>
              <a:buNone/>
              <a:defRPr sz="1600">
                <a:solidFill>
                  <a:srgbClr val="182833"/>
                </a:solidFill>
                <a:latin typeface="Arial"/>
                <a:ea typeface="Arial"/>
                <a:cs typeface="Arial"/>
              </a:defRPr>
            </a:pPr>
            <a:r>
              <a:t>Multi-site operation without authentication, monitoring, or redundancy</a:t>
            </a:r>
          </a:p>
        </p:txBody>
      </p:sp>
      <p:sp>
        <p:nvSpPr>
          <p:cNvPr id="478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403C56D-9CD9-4540-98A4-423B99E9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2998"/>
            <a:ext cx="2095500" cy="20966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500" b="1">
                <a:solidFill>
                  <a:srgbClr val="C73E3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Production direction</a:t>
            </a:r>
          </a:p>
        </p:txBody>
      </p:sp>
      <p:sp>
        <p:nvSpPr>
          <p:cNvPr id="479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FB3C94F-0F39-4066-A9F3-DEFC1980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14948"/>
            <a:ext cx="4524375" cy="436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5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File or Kafka Channel, tracked source offsets, incremental reads, external configuration</a:t>
            </a:r>
          </a:p>
        </p:txBody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7A7D7286-DCD1-4BD0-B65A-8E616C7D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33176631"/>
      </p:ext>
    </p:extLst>
  </p:cSld>
</p:sld>
</file>

<file path=ppt/slides/slide1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3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249BD23-8E7D-4000-AC65-4A890853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48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0DAB954-554F-44CF-9EA8-B381072C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48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61B2E8D-54F1-4138-A476-8A9FC4E5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48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CB37CED-CAB9-4591-89DC-E6584325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487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33F0769-A5C9-45A4-B0EE-D64893E6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488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0F83DFF-A3AE-4F5A-8604-99D06D31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489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FCD2E65-E55A-47C9-9B06-1D6C5218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0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ECA2A74-E469-4471-A990-9353EBF7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491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B278ACC-1756-4C52-9D6C-EDEA1C60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492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299433B-F82D-47DC-8D0A-CACE0C8B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48"/>
            <a:ext cx="10668000" cy="4566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2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Streaming integration commands</a:t>
            </a:r>
          </a:p>
        </p:txBody>
      </p:sp>
      <p:sp>
        <p:nvSpPr>
          <p:cNvPr id="493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DC24197F-68F1-46A4-9C42-8580BFD5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6400800"/>
            <a:ext cx="1097280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4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7ABECB8-0A0C-47D2-89A2-0C02ACD4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099"/>
            <a:ext cx="4381500" cy="13554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0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sp>
        <p:nvSpPr>
          <p:cNvPr id="496" name="Oval 13">
            <a:extLst xmlns:a="http://schemas.openxmlformats.org/drawingml/2006/main">
              <a:ext uri="{FF2B5EF4-FFF2-40B4-BE49-F238E27FC236}">
                <a16:creationId xmlns:a16="http://schemas.microsoft.com/office/drawing/2014/main" id="{1DBAF036-AA36-48CE-AC59-FA402A08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7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8937A6D-A1FF-48A1-A0BF-B2EC0C45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287"/>
            <a:ext cx="533400" cy="25922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</a:t>
            </a:r>
          </a:p>
        </p:txBody>
      </p:sp>
      <p:sp>
        <p:nvSpPr>
          <p:cNvPr id="498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6C4CA75-35B4-49F5-9202-E3B254B1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28749"/>
            <a:ext cx="9525000" cy="22195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6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Terminal 1: Flume agent</a:t>
            </a:r>
          </a:p>
        </p:txBody>
      </p:sp>
      <p:sp>
        <p:nvSpPr>
          <p:cNvPr id="499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7E786B6E-7746-4F2C-9DF1-E92AA4CB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0"/>
            <a:ext cx="99250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71B2A"/>
          </a:solidFill>
          <a:ln xmlns:a="http://schemas.openxmlformats.org/drawingml/2006/main" w="1270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</a:p>
        </p:txBody>
      </p:sp>
      <p:sp>
        <p:nvSpPr>
          <p:cNvPr id="500" name="cd C:\LAB_CODE\3rdsem\Stream\apache-flume-1.11.0-bin…">
            <a:extLst xmlns:a="http://schemas.openxmlformats.org/drawingml/2006/main">
              <a:ext uri="{FF2B5EF4-FFF2-40B4-BE49-F238E27FC236}">
                <a16:creationId xmlns:a16="http://schemas.microsoft.com/office/drawing/2014/main" id="{93AA23CA-975A-4378-A043-B7AFE611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008" y="1989733"/>
            <a:ext cx="9770734" cy="59436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95250" tIns="95250" rIns="95250" bIns="9525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  <a:r>
              <a:t>cd C:\LAB_CODE\3rdsem\apache-flume-1.11.0-bin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  <a:r>
              <a:t>java -cp "lib\*" org.apache.flume.node.Application -n a1 -f conf\oilgas.conf</a:t>
            </a:r>
          </a:p>
        </p:txBody>
      </p:sp>
      <p:sp>
        <p:nvSpPr>
          <p:cNvPr id="501" name="Oval 17">
            <a:extLst xmlns:a="http://schemas.openxmlformats.org/drawingml/2006/main">
              <a:ext uri="{FF2B5EF4-FFF2-40B4-BE49-F238E27FC236}">
                <a16:creationId xmlns:a16="http://schemas.microsoft.com/office/drawing/2014/main" id="{00A507C9-9531-4FC5-A37C-57F22F7C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2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BC68CD7-2A00-4CF3-9B9E-96B0AFA7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6037"/>
            <a:ext cx="533400" cy="25922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</a:t>
            </a:r>
          </a:p>
        </p:txBody>
      </p:sp>
      <p:sp>
        <p:nvSpPr>
          <p:cNvPr id="503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2C0C7F0-229A-4EAB-9656-18BF4F6A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57499"/>
            <a:ext cx="9525000" cy="22195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6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Terminal 2: PowerShell simulator</a:t>
            </a:r>
          </a:p>
        </p:txBody>
      </p:sp>
      <p:sp>
        <p:nvSpPr>
          <p:cNvPr id="504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81A9CDB0-B33A-49FD-AEAA-5D2D32DE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0"/>
            <a:ext cx="99250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71B2A"/>
          </a:solidFill>
          <a:ln xmlns:a="http://schemas.openxmlformats.org/drawingml/2006/main" w="1270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</a:p>
        </p:txBody>
      </p:sp>
      <p:sp>
        <p:nvSpPr>
          <p:cNvPr id="505" name="cd C:\LAB_CODE\3rdsem\Stream\oilgas…">
            <a:extLst xmlns:a="http://schemas.openxmlformats.org/drawingml/2006/main">
              <a:ext uri="{FF2B5EF4-FFF2-40B4-BE49-F238E27FC236}">
                <a16:creationId xmlns:a16="http://schemas.microsoft.com/office/drawing/2014/main" id="{6DDDE3FB-4D0A-41D4-9374-852B917A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004" y="3313046"/>
            <a:ext cx="9770741" cy="64820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95250" tIns="95250" rIns="95250" bIns="9525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  <a:r>
              <a:t>cd C:\LAB_CODE\3rdsem\oilgas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  <a:r>
              <a:t>powershell -ExecutionPolicy Bypass -File .\simulate_sensor.ps1</a:t>
            </a:r>
          </a:p>
        </p:txBody>
      </p:sp>
      <p:sp>
        <p:nvSpPr>
          <p:cNvPr id="506" name="Oval 21">
            <a:extLst xmlns:a="http://schemas.openxmlformats.org/drawingml/2006/main">
              <a:ext uri="{FF2B5EF4-FFF2-40B4-BE49-F238E27FC236}">
                <a16:creationId xmlns:a16="http://schemas.microsoft.com/office/drawing/2014/main" id="{AFD45E3B-4443-462D-AB51-B97A51A8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7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5836CF1-6600-4C58-983D-A36223FE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4288"/>
            <a:ext cx="533400" cy="25922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3</a:t>
            </a:r>
          </a:p>
        </p:txBody>
      </p:sp>
      <p:sp>
        <p:nvSpPr>
          <p:cNvPr id="508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EF03F0-ACF8-4947-B706-A19C4A1E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48"/>
            <a:ext cx="9525000" cy="22195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6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Terminal 3: Streamlit dashboard</a:t>
            </a:r>
          </a:p>
        </p:txBody>
      </p:sp>
      <p:sp>
        <p:nvSpPr>
          <p:cNvPr id="509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A3AC3933-C43A-439B-B2E3-AC4A895A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99250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71B2A"/>
          </a:solidFill>
          <a:ln xmlns:a="http://schemas.openxmlformats.org/drawingml/2006/main" w="1270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</a:p>
        </p:txBody>
      </p:sp>
      <p:sp>
        <p:nvSpPr>
          <p:cNvPr id="510" name="cd C:\LAB_CODE\3rdsem\Stream\oilgas\app…">
            <a:extLst xmlns:a="http://schemas.openxmlformats.org/drawingml/2006/main">
              <a:ext uri="{FF2B5EF4-FFF2-40B4-BE49-F238E27FC236}">
                <a16:creationId xmlns:a16="http://schemas.microsoft.com/office/drawing/2014/main" id="{4D6E4798-9920-408B-8FBF-851A9C6F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004" y="4551296"/>
            <a:ext cx="9770741" cy="64820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95250" tIns="95250" rIns="95250" bIns="9525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  <a:r>
              <a:t>cd C:\LAB_CODE\3rdsem\oilgas\app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D8F8F4"/>
                </a:solidFill>
                <a:latin typeface="Courier New"/>
                <a:ea typeface="Courier New"/>
                <a:cs typeface="Courier New"/>
              </a:defRPr>
            </a:pPr>
            <a:r>
              <a:t>python -m streamlit run dashboard.py</a:t>
            </a:r>
          </a:p>
        </p:txBody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D742D0F3-095E-421C-B2F3-0CBE3BA7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44736671"/>
      </p:ext>
    </p:extLst>
  </p:cSld>
</p:sld>
</file>

<file path=ppt/slides/slide1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4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CE5FD881-8AD5-43B6-A8B1-A605E9F3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515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B6A9D7F-E991-446A-ACE5-3D5A7F13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51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204DE7-61CB-42A9-AECE-60E4795A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51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D53FEBF-7E89-4891-955A-08222EDC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518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4C0848A-16D2-40FA-9915-35C59711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519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2F288CA-412C-4EDF-915B-EA63B196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52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A69333-D648-4999-8DF4-974B1182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1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B91230F-EDA9-4FDF-8395-EB24C173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522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4227E8E-AEAD-49C3-834D-9235D78E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523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20BD4E2-D8A0-4480-B0F3-B5AB19AB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48"/>
            <a:ext cx="10668000" cy="4566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2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 walkthrough</a:t>
            </a:r>
          </a:p>
        </p:txBody>
      </p:sp>
      <p:sp>
        <p:nvSpPr>
          <p:cNvPr id="524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298C03A9-0696-4CF5-8DCA-3809526D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6400800"/>
            <a:ext cx="1097280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5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6CDB261-3D28-46E3-89C5-11C2AEAA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099"/>
            <a:ext cx="4381500" cy="13554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0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sp>
        <p:nvSpPr>
          <p:cNvPr id="527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0A0540E-F008-4887-9BAB-0D16B20C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85800" cy="2960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2100" b="1">
                <a:solidFill>
                  <a:srgbClr val="0D8F9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528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92E22F6-5299-462B-ABE8-44AB594E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52624"/>
            <a:ext cx="400050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5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Group introduction</a:t>
            </a:r>
          </a:p>
        </p:txBody>
      </p:sp>
      <p:sp>
        <p:nvSpPr>
          <p:cNvPr id="529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60C49D5-2EA6-4F83-BB67-4FB3EAA9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685800" cy="2960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2100" b="1">
                <a:solidFill>
                  <a:srgbClr val="0D8F9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530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2655E16-5CC7-4CA9-8CE9-13784AC4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52624"/>
            <a:ext cx="4000500" cy="2096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5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531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5CD5468-FFD6-4653-A76A-CB85D13A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52674"/>
            <a:ext cx="4191000" cy="44653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10000"/>
              </a:lnSpc>
              <a:buNone/>
              <a:defRPr sz="15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Explain the local source, channel, sink, and dashboard</a:t>
            </a:r>
          </a:p>
        </p:txBody>
      </p:sp>
      <p:sp>
        <p:nvSpPr>
          <p:cNvPr id="532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CD61DF9-5C19-4423-9DD9-8BC6C483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685800" cy="2960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2100" b="1">
                <a:solidFill>
                  <a:srgbClr val="0D8F9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533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D30907B-600F-45A3-9782-16069848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67073"/>
            <a:ext cx="4000500" cy="20966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5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Code and setup</a:t>
            </a:r>
          </a:p>
        </p:txBody>
      </p:sp>
      <p:sp>
        <p:nvSpPr>
          <p:cNvPr id="534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EB3E896-FE43-4543-976B-EF55313E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67123"/>
            <a:ext cx="4191000" cy="44653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10000"/>
              </a:lnSpc>
              <a:buNone/>
              <a:defRPr sz="15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Show the simulator, agent configuration, and launch commands</a:t>
            </a:r>
          </a:p>
        </p:txBody>
      </p:sp>
      <p:sp>
        <p:nvSpPr>
          <p:cNvPr id="535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7076D79-4F4A-4A98-90E7-A6D2720D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67075"/>
            <a:ext cx="685800" cy="2960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2100" b="1">
                <a:solidFill>
                  <a:srgbClr val="0D8F9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5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095D36F3-8866-4575-A9C9-875D7807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67073"/>
            <a:ext cx="4000500" cy="20966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5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Streaming files</a:t>
            </a:r>
          </a:p>
        </p:txBody>
      </p:sp>
      <p:sp>
        <p:nvSpPr>
          <p:cNvPr id="537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75F387C-0BE7-4B76-9D2A-64F6A89B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67123"/>
            <a:ext cx="4191000" cy="44653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10000"/>
              </a:lnSpc>
              <a:buNone/>
              <a:defRPr sz="15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Show generated CSV readings and the rolled output files</a:t>
            </a:r>
          </a:p>
        </p:txBody>
      </p:sp>
      <p:sp>
        <p:nvSpPr>
          <p:cNvPr id="538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B7B6CF03-FA49-47B7-9BAB-DA91644A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685800" cy="2960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2100" b="1">
                <a:solidFill>
                  <a:srgbClr val="0D8F9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05</a:t>
            </a:r>
          </a:p>
        </p:txBody>
      </p:sp>
      <p:sp>
        <p:nvSpPr>
          <p:cNvPr id="539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B20DE513-F14A-4B29-9469-A8B86BDA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81523"/>
            <a:ext cx="4000500" cy="20966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5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Dashboard</a:t>
            </a:r>
          </a:p>
        </p:txBody>
      </p:sp>
      <p:sp>
        <p:nvSpPr>
          <p:cNvPr id="540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B1C9308-DD82-465A-B865-FBA02006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81573"/>
            <a:ext cx="4191000" cy="44653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10000"/>
              </a:lnSpc>
              <a:buNone/>
              <a:defRPr sz="15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Identify abnormal measurements and the subsequent return to normal</a:t>
            </a:r>
          </a:p>
        </p:txBody>
      </p:sp>
      <p:sp>
        <p:nvSpPr>
          <p:cNvPr id="541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4D5E8C3E-1BD9-4608-9AB4-3BC6B329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81525"/>
            <a:ext cx="685800" cy="2960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2100" b="1">
                <a:solidFill>
                  <a:srgbClr val="0D8F9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06</a:t>
            </a:r>
          </a:p>
        </p:txBody>
      </p:sp>
      <p:sp>
        <p:nvSpPr>
          <p:cNvPr id="542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3EEAA682-CA8B-4496-835E-1F2CB3E0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81523"/>
            <a:ext cx="4000500" cy="20966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5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Closing</a:t>
            </a:r>
          </a:p>
        </p:txBody>
      </p:sp>
      <p:sp>
        <p:nvSpPr>
          <p:cNvPr id="543" name="Introduce the monitoring problem and the four equipment units">
            <a:extLst xmlns:a="http://schemas.openxmlformats.org/drawingml/2006/main">
              <a:ext uri="{FF2B5EF4-FFF2-40B4-BE49-F238E27FC236}">
                <a16:creationId xmlns:a16="http://schemas.microsoft.com/office/drawing/2014/main" id="{5C5BC982-FC9F-4F02-8B41-B8807981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68" y="2352675"/>
            <a:ext cx="4099564" cy="51700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66C7C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Introduce the monitoring problem and the four equipment units</a:t>
            </a:r>
          </a:p>
        </p:txBody>
      </p:sp>
      <p:sp>
        <p:nvSpPr>
          <p:cNvPr id="544" name="Summarize the pipeline and the main observations">
            <a:extLst xmlns:a="http://schemas.openxmlformats.org/drawingml/2006/main">
              <a:ext uri="{FF2B5EF4-FFF2-40B4-BE49-F238E27FC236}">
                <a16:creationId xmlns:a16="http://schemas.microsoft.com/office/drawing/2014/main" id="{706C0ECA-B300-4DCE-8A39-DC6F9896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118" y="4969324"/>
            <a:ext cx="4099564" cy="5170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66C7C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Summarize the pipeline and the main observations</a:t>
            </a:r>
          </a:p>
        </p:txBody>
      </p:sp>
      <p:sp>
        <p:nvSpPr>
          <p:cNvPr id="545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83BCC1B-4350-4C8E-A019-37E94354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1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/>
            <a:r>
              <a:rPr sz="1500" u="sng">
                <a:solidFill>
                  <a:srgbClr val="0563C1"/>
                </a:solidFill>
                <a:latin typeface="Arial"/>
                <a:ea typeface="Arial"/>
                <a:cs typeface="Arial"/>
                <a:hlinkClick xmlns:r="http://schemas.openxmlformats.org/officeDocument/2006/relationships" r:id="R3b020c0536304152"/>
              </a:rPr>
              <a:t>Recorded demonstration: Google Drive</a:t>
            </a:r>
          </a:p>
        </p:txBody>
      </p:sp>
      <p:sp>
        <p:nvSpPr>
          <p:cNvPr id="546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F61F1B5-1BCA-4852-BDCD-30867A9D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1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/>
            <a:r>
              <a:rPr sz="1500" u="sng">
                <a:solidFill>
                  <a:srgbClr val="0563C1"/>
                </a:solidFill>
                <a:latin typeface="Arial"/>
                <a:ea typeface="Arial"/>
                <a:cs typeface="Arial"/>
                <a:hlinkClick xmlns:r="http://schemas.openxmlformats.org/officeDocument/2006/relationships" r:id="Rf95ed3ab50534089"/>
              </a:rPr>
              <a:t>Alternative video link: YouTube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7B1FC1DA-735D-4226-B5C4-C6BF3D43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87735139"/>
      </p:ext>
    </p:extLst>
  </p:cSld>
</p:sld>
</file>

<file path=ppt/slides/slide1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0" name="Flume configuration visible in the recording">
            <a:extLst xmlns:a="http://schemas.openxmlformats.org/drawingml/2006/main">
              <a:ext uri="{FF2B5EF4-FFF2-40B4-BE49-F238E27FC236}">
                <a16:creationId xmlns:a16="http://schemas.microsoft.com/office/drawing/2014/main" id="{83153C28-50CA-4024-A89C-62E3EB31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17" y="590550"/>
            <a:ext cx="10881366" cy="49848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900" b="1">
                <a:solidFill>
                  <a:srgbClr val="0B24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Demonstration: Flume configuration</a:t>
            </a:r>
          </a:p>
        </p:txBody>
      </p:sp>
      <p:sp>
        <p:nvSpPr>
          <p:cNvPr id="551" name="Architecture and Streaming using Apache Flume">
            <a:extLst xmlns:a="http://schemas.openxmlformats.org/drawingml/2006/main">
              <a:ext uri="{FF2B5EF4-FFF2-40B4-BE49-F238E27FC236}">
                <a16:creationId xmlns:a16="http://schemas.microsoft.com/office/drawing/2014/main" id="{8EAF4762-9A3E-4A9F-9592-BAA19D5F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17" y="6515099"/>
            <a:ext cx="9433566" cy="21469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900">
                <a:solidFill>
                  <a:srgbClr val="566C7C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pic>
        <p:nvPicPr>
          <p:cNvPr id="568" name="image5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618cef04144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35306" y="1381125"/>
            <a:ext cx="6921390" cy="43053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553" name="06:00: memory capacity 1000, transaction capacity 100, File Roll Sink interval 30 s">
            <a:extLst xmlns:a="http://schemas.openxmlformats.org/drawingml/2006/main">
              <a:ext uri="{FF2B5EF4-FFF2-40B4-BE49-F238E27FC236}">
                <a16:creationId xmlns:a16="http://schemas.microsoft.com/office/drawing/2014/main" id="{C723935D-D552-4ECC-85D5-D628EA9B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7" y="5857875"/>
            <a:ext cx="10728966" cy="36294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900" b="1">
                <a:solidFill>
                  <a:srgbClr val="0877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Memory capacity 1000, transaction capacity 100, file roll interval 30 seconds</a:t>
            </a:r>
          </a:p>
        </p:txBody>
      </p:sp>
      <p:sp>
        <p:nvSpPr>
          <p:cNvPr id="555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3BA6DC80-0BEE-463C-8ABF-5BC5BA06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55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715B3DD-8F0C-44E7-82BF-136618D6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557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6DF72BC-24DF-41B2-80F4-B13EF2AB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55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044A5B1-5C53-4C1B-8FED-035F3923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559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70AD002-E224-4164-92D3-B3E692A6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560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AC5447D-FFAD-4BC5-B969-FD6740EB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561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4392C6A-D234-4605-BC48-4300F80C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2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0C1FB43-0422-445E-97C8-EE1E3ED5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563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FC4A4CE-9B79-4FCD-90CC-66E9B49F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545C6A7E-C913-4AA4-9D9F-4E61F1EB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16043244"/>
      </p:ext>
    </p:extLst>
  </p:cSld>
</p:sld>
</file>

<file path=ppt/slides/slide1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7" name="A recorded event reaches the rolled output">
            <a:extLst xmlns:a="http://schemas.openxmlformats.org/drawingml/2006/main">
              <a:ext uri="{FF2B5EF4-FFF2-40B4-BE49-F238E27FC236}">
                <a16:creationId xmlns:a16="http://schemas.microsoft.com/office/drawing/2014/main" id="{F241DF10-06F9-4EE3-923E-2AEE3C83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17" y="590550"/>
            <a:ext cx="10881366" cy="49848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900" b="1">
                <a:solidFill>
                  <a:srgbClr val="0B24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Demonstration: event delivery</a:t>
            </a:r>
          </a:p>
        </p:txBody>
      </p:sp>
      <p:sp>
        <p:nvSpPr>
          <p:cNvPr id="568" name="Architecture and Streaming using Apache Flume">
            <a:extLst xmlns:a="http://schemas.openxmlformats.org/drawingml/2006/main">
              <a:ext uri="{FF2B5EF4-FFF2-40B4-BE49-F238E27FC236}">
                <a16:creationId xmlns:a16="http://schemas.microsoft.com/office/drawing/2014/main" id="{67CD1B7B-1630-41A2-A100-06A4622A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17" y="6515099"/>
            <a:ext cx="9433566" cy="21469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900">
                <a:solidFill>
                  <a:srgbClr val="566C7C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pic>
        <p:nvPicPr>
          <p:cNvPr id="586" name="image6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65c927dbb49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49684" y="1333500"/>
            <a:ext cx="6492632" cy="40386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570" name="06:32: the same Separator V-101 event appears in the terminal and output file">
            <a:extLst xmlns:a="http://schemas.openxmlformats.org/drawingml/2006/main">
              <a:ext uri="{FF2B5EF4-FFF2-40B4-BE49-F238E27FC236}">
                <a16:creationId xmlns:a16="http://schemas.microsoft.com/office/drawing/2014/main" id="{E676BBF6-DAB2-473E-A342-CF22FC32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7" y="5553074"/>
            <a:ext cx="10728966" cy="35065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0877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same Separator V-101 event appears in the terminal and output file</a:t>
            </a:r>
          </a:p>
        </p:txBody>
      </p:sp>
      <p:sp>
        <p:nvSpPr>
          <p:cNvPr id="571" name="Separator V-101,89,143,388,4.1,2026-09-12 14:21:52">
            <a:extLst xmlns:a="http://schemas.openxmlformats.org/drawingml/2006/main">
              <a:ext uri="{FF2B5EF4-FFF2-40B4-BE49-F238E27FC236}">
                <a16:creationId xmlns:a16="http://schemas.microsoft.com/office/drawing/2014/main" id="{01FECDE5-81B0-4046-982A-DDA6D531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7" y="6019799"/>
            <a:ext cx="10728966" cy="3327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700">
                <a:solidFill>
                  <a:srgbClr val="102B3A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buNone/>
            </a:pPr>
            <a:r>
              <a:t>Separator V-101,89,143,388,4.1,2026-09-12 14:21:52</a:t>
            </a:r>
          </a:p>
        </p:txBody>
      </p:sp>
      <p:sp>
        <p:nvSpPr>
          <p:cNvPr id="57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6802BC69-E883-45D2-BC44-9F592672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57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CCFF47A-B2AF-4A79-A283-B1727DEB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57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4CEB430-6CCC-4657-840D-3ABC0E90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57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3293985-6456-44DF-B2ED-4F0A131C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577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6CC94D-60A5-4F51-9E20-EA8C5BAA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578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B60A148-E32F-4BC2-8CD0-953032E5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579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178B738-5143-4980-9AA1-EA0D962D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0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2D42E2A-539C-49AB-8E4C-BFEE2B06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581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FA93F2B-FD4F-4163-91F7-E80BC53C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DF32CBD4-6027-47D9-9A87-6A1DFAF2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14015988"/>
      </p:ext>
    </p:extLst>
  </p:cSld>
</p:sld>
</file>

<file path=ppt/slides/slide2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5" name="Dashboard: Normal operation">
            <a:extLst xmlns:a="http://schemas.openxmlformats.org/drawingml/2006/main">
              <a:ext uri="{FF2B5EF4-FFF2-40B4-BE49-F238E27FC236}">
                <a16:creationId xmlns:a16="http://schemas.microsoft.com/office/drawing/2014/main" id="{32ECBDDF-5A15-4F51-89AD-3FF9A4A2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17" y="590550"/>
            <a:ext cx="10881366" cy="49848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900" b="1">
                <a:solidFill>
                  <a:srgbClr val="0B24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Dashboard: Normal operation</a:t>
            </a:r>
          </a:p>
        </p:txBody>
      </p:sp>
      <p:sp>
        <p:nvSpPr>
          <p:cNvPr id="586" name="Architecture and Streaming using Apache Flume">
            <a:extLst xmlns:a="http://schemas.openxmlformats.org/drawingml/2006/main">
              <a:ext uri="{FF2B5EF4-FFF2-40B4-BE49-F238E27FC236}">
                <a16:creationId xmlns:a16="http://schemas.microsoft.com/office/drawing/2014/main" id="{0665779A-7AAE-497B-9DA2-E34507FE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17" y="6515099"/>
            <a:ext cx="9433566" cy="21469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900">
                <a:solidFill>
                  <a:srgbClr val="566C7C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pic>
        <p:nvPicPr>
          <p:cNvPr id="603" name="image2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e291afbe548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15363" y="1438275"/>
            <a:ext cx="8561276" cy="42672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588" name="4 equipment, 4 normal, 0 warning, 0 critical">
            <a:extLst xmlns:a="http://schemas.openxmlformats.org/drawingml/2006/main">
              <a:ext uri="{FF2B5EF4-FFF2-40B4-BE49-F238E27FC236}">
                <a16:creationId xmlns:a16="http://schemas.microsoft.com/office/drawing/2014/main" id="{F5AB0BD5-FE3E-4764-AE58-C85C63D6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7" y="5838824"/>
            <a:ext cx="10728966" cy="41147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100" b="1">
                <a:solidFill>
                  <a:srgbClr val="1688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 assets: 4 normal, 0 warning, 0 critical</a:t>
            </a:r>
          </a:p>
        </p:txBody>
      </p:sp>
      <p:sp>
        <p:nvSpPr>
          <p:cNvPr id="590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520552B5-C808-4C21-8BCD-DC27D84A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59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2BC2433-C09A-4D5D-AC40-371C7F1A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59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FC01DEE-6D5E-4705-9D50-8937B20C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59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420352-7498-42A6-BB23-6C63B8D3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59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DDBE170-30DC-4BBE-9186-16CB304E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59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3718F4-8BDD-477B-831E-53BBCBE8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59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A6585D2-D898-4AC5-97D4-A0F7A427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AF4D513-ACD3-43BD-8234-DD410161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59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6913B15-F45B-4139-83B5-B8B64AB8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CEB8D8AB-A21F-4BDF-B093-816C7CC1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97123549"/>
      </p:ext>
    </p:extLst>
  </p:cSld>
</p:sld>
</file>

<file path=ppt/slides/slide2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2" name="Dashboard: pressure and temperature alerts">
            <a:extLst xmlns:a="http://schemas.openxmlformats.org/drawingml/2006/main">
              <a:ext uri="{FF2B5EF4-FFF2-40B4-BE49-F238E27FC236}">
                <a16:creationId xmlns:a16="http://schemas.microsoft.com/office/drawing/2014/main" id="{2A95052A-3339-40E3-BC94-DD39BC2F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17" y="590550"/>
            <a:ext cx="10881366" cy="49848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900" b="1">
                <a:solidFill>
                  <a:srgbClr val="0B24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Dashboard: pressure and temperature alerts</a:t>
            </a:r>
          </a:p>
        </p:txBody>
      </p:sp>
      <p:sp>
        <p:nvSpPr>
          <p:cNvPr id="603" name="Architecture and Streaming using Apache Flume">
            <a:extLst xmlns:a="http://schemas.openxmlformats.org/drawingml/2006/main">
              <a:ext uri="{FF2B5EF4-FFF2-40B4-BE49-F238E27FC236}">
                <a16:creationId xmlns:a16="http://schemas.microsoft.com/office/drawing/2014/main" id="{162D34C2-C77B-4DCA-9B2E-0945A38B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17" y="6515099"/>
            <a:ext cx="9433566" cy="21469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900">
                <a:solidFill>
                  <a:srgbClr val="566C7C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pic>
        <p:nvPicPr>
          <p:cNvPr id="620" name="image3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be9ef43374b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96251" y="1381125"/>
            <a:ext cx="8599495" cy="42862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05" name="Gas Compressor C-101 pressure 193 bar. Crude Oil Pump P-101 temperature 113 °C">
            <a:extLst xmlns:a="http://schemas.openxmlformats.org/drawingml/2006/main">
              <a:ext uri="{FF2B5EF4-FFF2-40B4-BE49-F238E27FC236}">
                <a16:creationId xmlns:a16="http://schemas.microsoft.com/office/drawing/2014/main" id="{83F418D6-3B82-4022-9E10-ED240B92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7" y="5791200"/>
            <a:ext cx="10767066" cy="36294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900" b="1">
                <a:solidFill>
                  <a:srgbClr val="C8383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Gas Compressor C-101 pressure 193 bar. Crude Oil Pump P-101 temperature 113 °C</a:t>
            </a:r>
          </a:p>
        </p:txBody>
      </p:sp>
      <p:sp>
        <p:nvSpPr>
          <p:cNvPr id="607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BFEB5770-EC59-460F-B8E4-3FF1E7D2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608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ACDE03E-4B91-4D96-811B-511977B1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609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381657-211B-4065-A964-418D4263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610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B51F1ED-359A-4104-8D8B-9F349FCA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611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DD7183D-7412-4D89-AD44-FC8BF63A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612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F6E0D50-1A67-4636-85EB-E66EC62C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613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38FED2F-C1E0-43E9-9364-3419ED6B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4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7AB2DB2-951E-4857-B444-0C41F6E2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615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19D1454-1488-4AEC-8801-2658EFB6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D084F50E-4AAA-4525-A4E6-F8286F0E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584618897"/>
      </p:ext>
    </p:extLst>
  </p:cSld>
</p:sld>
</file>

<file path=ppt/slides/slide2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9" name="Dashboard: return to normal">
            <a:extLst xmlns:a="http://schemas.openxmlformats.org/drawingml/2006/main">
              <a:ext uri="{FF2B5EF4-FFF2-40B4-BE49-F238E27FC236}">
                <a16:creationId xmlns:a16="http://schemas.microsoft.com/office/drawing/2014/main" id="{042140C0-5514-4B69-BBD5-EFEA5055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17" y="590550"/>
            <a:ext cx="10881366" cy="49848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900" b="1">
                <a:solidFill>
                  <a:srgbClr val="0B24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Dashboard: return to normal</a:t>
            </a:r>
          </a:p>
        </p:txBody>
      </p:sp>
      <p:sp>
        <p:nvSpPr>
          <p:cNvPr id="620" name="Architecture and Streaming using Apache Flume">
            <a:extLst xmlns:a="http://schemas.openxmlformats.org/drawingml/2006/main">
              <a:ext uri="{FF2B5EF4-FFF2-40B4-BE49-F238E27FC236}">
                <a16:creationId xmlns:a16="http://schemas.microsoft.com/office/drawing/2014/main" id="{40EDE386-95CE-4CA0-B1A3-39CAFA86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17" y="6515099"/>
            <a:ext cx="9433566" cy="21469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900">
                <a:solidFill>
                  <a:srgbClr val="566C7C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pic>
        <p:nvPicPr>
          <p:cNvPr id="637" name="image4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0569f95fd49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15363" y="1438275"/>
            <a:ext cx="8561276" cy="42672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22" name="All four equipment return to Normal, with 0 Warning and 0 Critical">
            <a:extLst xmlns:a="http://schemas.openxmlformats.org/drawingml/2006/main">
              <a:ext uri="{FF2B5EF4-FFF2-40B4-BE49-F238E27FC236}">
                <a16:creationId xmlns:a16="http://schemas.microsoft.com/office/drawing/2014/main" id="{ACFD6C6C-806F-4594-9F0E-3E9FA28E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7" y="5838824"/>
            <a:ext cx="10728966" cy="41147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100" b="1">
                <a:solidFill>
                  <a:srgbClr val="1688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All four assets return to Normal, with 0 Warning and 0 Critical</a:t>
            </a:r>
          </a:p>
        </p:txBody>
      </p:sp>
      <p:sp>
        <p:nvSpPr>
          <p:cNvPr id="624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C2D1B2BB-C177-4B00-A447-277CE50C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625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6EED3B-B4BF-4B05-8562-530E60FB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6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EB2B296-9FB0-4948-A3CB-9715E9C9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6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C475947-070C-4A29-B0D5-095BB75B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628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B762613-9D92-40BA-8E6A-3D96AB5C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629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5DE5D88-2D4F-4D45-A92A-5942E58A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63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C577664-80AD-4C94-8A69-2D36D251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1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C191E3D-1D58-4AA8-8EA0-B695986E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632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858F8D5-CEE4-4529-8079-16915DC4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DE4E8D2A-FBC7-4621-86E5-7112520E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46587662"/>
      </p:ext>
    </p:extLst>
  </p:cSld>
</p:sld>
</file>

<file path=ppt/slides/slide2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7AD4252-595C-42EF-B740-C1427DE1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63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44D601B-DF00-486A-A71D-FA9DA0A0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63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D032F08-8A9C-43C6-A2CE-45C46DAE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63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25B1BC-0274-43BB-82DB-B594B440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64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CD3B3B5-0ABF-4EA4-A3EE-A4C4A0F4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641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8973193-6342-4AC8-89D0-DDAD615A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642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9D6C01C-F22F-47AA-B1D8-3557597C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643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EBEFC61-0CA0-4687-B604-A11AC50D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4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3FB31E1-1FBA-4C62-BD56-F2F24E1B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645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AF0FD59-E29E-4570-A357-DF1BD230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48"/>
            <a:ext cx="10668000" cy="4566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2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Processing results</a:t>
            </a:r>
          </a:p>
        </p:txBody>
      </p:sp>
      <p:sp>
        <p:nvSpPr>
          <p:cNvPr id="646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B957AD7C-DEC7-403A-A02E-270B9C77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6400800"/>
            <a:ext cx="1097280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7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0AF2A6B-10EB-44B6-8BA3-DC2F582F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099"/>
            <a:ext cx="4381500" cy="13554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0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sp>
        <p:nvSpPr>
          <p:cNvPr id="649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E2D467E-4139-405D-90B6-F339C140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334000" cy="25922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Events captured by equipment</a:t>
            </a:r>
          </a:p>
        </p:txBody>
      </p:sp>
      <p:graphicFrame>
        <p:nvGraphicFramePr>
          <p:cNvPr id="676" name="Chart"/>
          <p:cNvGraphicFramePr/>
          <p:nvPr/>
        </p:nvGraphicFramePr>
        <p:xfrm>
          <a:off xmlns:a="http://schemas.openxmlformats.org/drawingml/2006/main" x="611150" y="1788919"/>
          <a:ext xmlns:a="http://schemas.openxmlformats.org/drawingml/2006/main" cx="6932593" cy="3789962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45d71bc56246e9"/>
          </a:graphicData>
        </a:graphic>
      </p:graphicFrame>
      <p:sp>
        <p:nvSpPr>
          <p:cNvPr id="651" name="Straight Connector 15">
            <a:extLst xmlns:a="http://schemas.openxmlformats.org/drawingml/2006/main">
              <a:ext uri="{FF2B5EF4-FFF2-40B4-BE49-F238E27FC236}">
                <a16:creationId xmlns:a16="http://schemas.microsoft.com/office/drawing/2014/main" id="{DD14886F-CF7E-4141-ABE1-FC67B28F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905749" y="1619249"/>
            <a:ext cx="3" cy="417195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2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FC80774-7D53-4480-8579-38E8EFFC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49"/>
            <a:ext cx="2762250" cy="44432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1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644</a:t>
            </a:r>
          </a:p>
        </p:txBody>
      </p:sp>
      <p:sp>
        <p:nvSpPr>
          <p:cNvPr id="653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45EE031-CE65-453B-8E18-1EB0D2D8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699"/>
            <a:ext cx="2857500" cy="18509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distinct events in input and output</a:t>
            </a:r>
          </a:p>
        </p:txBody>
      </p:sp>
      <p:sp>
        <p:nvSpPr>
          <p:cNvPr id="654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226B140-0A50-4A7F-88F4-5DBFA9A8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49"/>
            <a:ext cx="2762250" cy="44432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1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43</a:t>
            </a:r>
          </a:p>
        </p:txBody>
      </p:sp>
      <p:sp>
        <p:nvSpPr>
          <p:cNvPr id="655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DDFB636-8F5D-46B3-8D1C-AF245FD2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499"/>
            <a:ext cx="2857500" cy="18509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files created by the File Roll Sink</a:t>
            </a:r>
          </a:p>
        </p:txBody>
      </p:sp>
      <p:sp>
        <p:nvSpPr>
          <p:cNvPr id="656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A58B5A7-96AF-44DC-87B4-DC573637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48"/>
            <a:ext cx="2762250" cy="44432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100" b="1">
                <a:solidFill>
                  <a:srgbClr val="C73E3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96</a:t>
            </a:r>
          </a:p>
        </p:txBody>
      </p:sp>
      <p:sp>
        <p:nvSpPr>
          <p:cNvPr id="657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66326BC-5195-4B47-8288-50FFE59A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05298"/>
            <a:ext cx="2857500" cy="185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abnormal records (14.9%)</a:t>
            </a:r>
          </a:p>
        </p:txBody>
      </p:sp>
      <p:sp>
        <p:nvSpPr>
          <p:cNvPr id="658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DEE18DD-F79E-4292-8612-10D82E4A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48"/>
            <a:ext cx="2762250" cy="44432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1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55 / 41</a:t>
            </a:r>
          </a:p>
        </p:txBody>
      </p:sp>
      <p:sp>
        <p:nvSpPr>
          <p:cNvPr id="659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4825AEA-448F-4917-B7CE-74868101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098"/>
            <a:ext cx="2857500" cy="185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temperature / vibration alerts</a:t>
            </a:r>
          </a:p>
        </p:txBody>
      </p:sp>
      <p:sp>
        <p:nvSpPr>
          <p:cNvPr id="660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80C0EF9-CF92-45CD-BA9A-CBB7F69C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498"/>
            <a:ext cx="10287000" cy="19738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4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Supplied sample dataset: 644 input and output records match, with no duplicates.</a:t>
            </a:r>
          </a:p>
        </p:txBody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C5C58B80-416E-46BA-B81D-A3F08213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34385938"/>
      </p:ext>
    </p:extLst>
  </p:cSld>
</p:sld>
</file>

<file path=ppt/slides/slide2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4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B8DF9A3B-DC39-4289-952E-63245950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665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D9EEE7C-8501-48C5-BB4C-FD13BD10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66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7C5833C-E749-46A4-94F6-40355FBB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66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E82A9EF-5C14-497C-811F-07904CCC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668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A8380E0-35E1-418A-82AB-E30A1B79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669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F37A7E0-B369-4C8D-8946-E4507F50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6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F2EF042-766C-42E0-BD9B-506D7DDE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671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4240115-4662-41D1-AC16-91E6FC44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672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0C88DA2-422A-4C6E-8078-C965C918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3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A38F6DD-8CAF-4AC4-8A22-F4F71268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48"/>
            <a:ext cx="10668000" cy="4566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2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Framework inferences from the prototype</a:t>
            </a:r>
          </a:p>
        </p:txBody>
      </p:sp>
      <p:sp>
        <p:nvSpPr>
          <p:cNvPr id="674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5333A450-F21F-4E63-879B-6ED31D17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6400800"/>
            <a:ext cx="1097280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5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B5C5344-A1FF-4418-990C-664369F0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099"/>
            <a:ext cx="4381500" cy="13554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0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sp>
        <p:nvSpPr>
          <p:cNvPr id="677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5B175A7-FE22-4410-B75B-FC55B117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49"/>
            <a:ext cx="4476750" cy="24693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7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 observation</a:t>
            </a:r>
          </a:p>
        </p:txBody>
      </p:sp>
      <p:sp>
        <p:nvSpPr>
          <p:cNvPr id="678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E06D8FF-62C1-4AF1-BE4E-941037AC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52549"/>
            <a:ext cx="4476750" cy="24693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7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Inference</a:t>
            </a:r>
          </a:p>
        </p:txBody>
      </p:sp>
      <p:sp>
        <p:nvSpPr>
          <p:cNvPr id="679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A2F0374A-1D21-4AFF-BF3D-FD16B9B8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953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7F1F5"/>
          </a:solidFill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0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9D1405B-90CB-4F15-947F-BF86A24F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3921"/>
            <a:ext cx="4572000" cy="38485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configuration selects built-in components without custom Java code.</a:t>
            </a:r>
          </a:p>
        </p:txBody>
      </p:sp>
      <p:sp>
        <p:nvSpPr>
          <p:cNvPr id="681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EB2C3448-15A2-471F-926F-CF09E111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49" y="2181225"/>
            <a:ext cx="266703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D8F92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2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8BCC2AB-B506-4E1F-A926-00B0C70C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47850"/>
            <a:ext cx="51816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5F5EC"/>
          </a:solidFill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3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93B1C56-6B35-4B88-9C4E-27A57E94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13921"/>
            <a:ext cx="4800600" cy="38485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This pipeline uses configuration for ingestion and Python for monitoring.</a:t>
            </a:r>
          </a:p>
        </p:txBody>
      </p:sp>
      <p:sp>
        <p:nvSpPr>
          <p:cNvPr id="684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027FC6B5-BB55-44F5-8493-93D49400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953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5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AFA845C-5D02-4D7E-813D-D9AD278E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0696"/>
            <a:ext cx="4572000" cy="38485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Exec Source follows process output and the Memory Channel stores events in RAM.</a:t>
            </a:r>
          </a:p>
        </p:txBody>
      </p:sp>
      <p:sp>
        <p:nvSpPr>
          <p:cNvPr id="686" name="Straight Connector 22">
            <a:extLst xmlns:a="http://schemas.openxmlformats.org/drawingml/2006/main">
              <a:ext uri="{FF2B5EF4-FFF2-40B4-BE49-F238E27FC236}">
                <a16:creationId xmlns:a16="http://schemas.microsoft.com/office/drawing/2014/main" id="{6628E91A-B936-4AB2-BD75-84C0EE41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49" y="3048000"/>
            <a:ext cx="266703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D8F92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7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E88E9788-5AC3-4A57-9417-3EAD1168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14625"/>
            <a:ext cx="51816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8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F8084A0-5B8B-4BEF-9B76-13A26697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80696"/>
            <a:ext cx="4800600" cy="38485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RAM events can be lost. Restarting Get-Content can replay the source file.</a:t>
            </a:r>
          </a:p>
        </p:txBody>
      </p:sp>
      <p:sp>
        <p:nvSpPr>
          <p:cNvPr id="689" name="Rectangle: Rounded Corners 25">
            <a:extLst xmlns:a="http://schemas.openxmlformats.org/drawingml/2006/main">
              <a:ext uri="{FF2B5EF4-FFF2-40B4-BE49-F238E27FC236}">
                <a16:creationId xmlns:a16="http://schemas.microsoft.com/office/drawing/2014/main" id="{976051A5-E6D5-4A59-A99F-32C60B9B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953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7F1F5"/>
          </a:solidFill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90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1BAF9654-C39C-417B-8EC5-0DCC78A2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7470"/>
            <a:ext cx="4572000" cy="38485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dashboard performs parsing, state selection, threshold checks, and visualization.</a:t>
            </a:r>
          </a:p>
        </p:txBody>
      </p:sp>
      <p:sp>
        <p:nvSpPr>
          <p:cNvPr id="691" name="Straight Connector 27">
            <a:extLst xmlns:a="http://schemas.openxmlformats.org/drawingml/2006/main">
              <a:ext uri="{FF2B5EF4-FFF2-40B4-BE49-F238E27FC236}">
                <a16:creationId xmlns:a16="http://schemas.microsoft.com/office/drawing/2014/main" id="{5AB94C3E-6BD8-4EFE-8D2D-A033A449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49" y="3914775"/>
            <a:ext cx="266703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D8F92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92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401F812F-F873-46B0-8671-68C7B725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1400"/>
            <a:ext cx="51816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5F5EC"/>
          </a:solidFill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93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6550B2E-67B3-4D46-AC2B-026F2980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47470"/>
            <a:ext cx="4800600" cy="38485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 b="1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Flume moves events. Downstream applications still own analytics and business rules.</a:t>
            </a:r>
          </a:p>
        </p:txBody>
      </p:sp>
      <p:sp>
        <p:nvSpPr>
          <p:cNvPr id="694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B80A074F-887E-47E8-8428-48580A98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4953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95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9C1BBC23-67AA-48F0-A548-55BEC5C2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4245"/>
            <a:ext cx="4572000" cy="38485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supplied sample contains 644 matching input and output records.</a:t>
            </a:r>
          </a:p>
        </p:txBody>
      </p:sp>
      <p:sp>
        <p:nvSpPr>
          <p:cNvPr id="696" name="Straight Connector 32">
            <a:extLst xmlns:a="http://schemas.openxmlformats.org/drawingml/2006/main">
              <a:ext uri="{FF2B5EF4-FFF2-40B4-BE49-F238E27FC236}">
                <a16:creationId xmlns:a16="http://schemas.microsoft.com/office/drawing/2014/main" id="{020B3C55-5BFE-4A6E-96AB-771B24B3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49" y="4781550"/>
            <a:ext cx="266703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D8F92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97" name="Rectangle: Rounded Corners 33">
            <a:extLst xmlns:a="http://schemas.openxmlformats.org/drawingml/2006/main">
              <a:ext uri="{FF2B5EF4-FFF2-40B4-BE49-F238E27FC236}">
                <a16:creationId xmlns:a16="http://schemas.microsoft.com/office/drawing/2014/main" id="{337AC2C7-8886-48C3-936C-8A3E0EEB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48175"/>
            <a:ext cx="51816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98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876D5E7F-6FC0-42F8-84C6-71191F19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14245"/>
            <a:ext cx="4800600" cy="38485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300">
                <a:solidFill>
                  <a:srgbClr val="1828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saved files show matching delivery for this sample. Failure recovery requires separate testing.</a:t>
            </a:r>
          </a:p>
        </p:txBody>
      </p:sp>
      <p:sp>
        <p:nvSpPr>
          <p:cNvPr id="699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9DD45FA1-9247-401D-B6DD-0FC81F49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966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71B2A"/>
          </a:solidFill>
          <a:ln xmlns:a="http://schemas.openxmlformats.org/drawingml/2006/main">
            <a:solidFill>
              <a:srgbClr val="071B2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999"/>
              </a:lnSpc>
              <a:buNone/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700" name="Our view: Flume is effective as a configurable ingestion and file-landing layer. For durable production streaming, pair it with a tracked source, a File or Kafka Channel, monitoring, and downstream analytics.">
            <a:extLst xmlns:a="http://schemas.openxmlformats.org/drawingml/2006/main">
              <a:ext uri="{FF2B5EF4-FFF2-40B4-BE49-F238E27FC236}">
                <a16:creationId xmlns:a16="http://schemas.microsoft.com/office/drawing/2014/main" id="{787AFE52-983B-4ADE-B31E-073238DC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9" y="5528733"/>
            <a:ext cx="10732762" cy="6029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95250" tIns="95250" rIns="95250" bIns="95250" anchor="ctr">
            <a:spAutoFit/>
          </a:bodyPr>
          <a:lstStyle xmlns:a="http://schemas.openxmlformats.org/drawingml/2006/main">
            <a:lvl1pPr>
              <a:lnSpc>
                <a:spcPct val="105999"/>
              </a:lnSpc>
              <a:buNone/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Flume provides configurable event ingestion and file delivery. Production use requires durable buffering, tracked source offsets, and downstream monitoring.</a:t>
            </a:r>
          </a:p>
        </p:txBody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A6403EC9-8817-4F86-8611-E537E1AF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278411573"/>
      </p:ext>
    </p:extLst>
  </p:cSld>
</p:sld>
</file>

<file path=ppt/slides/slide2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4" name="Appendix: conceptual illustration">
            <a:extLst xmlns:a="http://schemas.openxmlformats.org/drawingml/2006/main">
              <a:ext uri="{FF2B5EF4-FFF2-40B4-BE49-F238E27FC236}">
                <a16:creationId xmlns:a16="http://schemas.microsoft.com/office/drawing/2014/main" id="{7A547275-6091-4039-A382-B65809D1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20" y="382577"/>
            <a:ext cx="10576566" cy="22698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0877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Appendix: conceptual illustration</a:t>
            </a:r>
          </a:p>
        </p:txBody>
      </p:sp>
      <p:sp>
        <p:nvSpPr>
          <p:cNvPr id="705" name="Possible future architecture">
            <a:extLst xmlns:a="http://schemas.openxmlformats.org/drawingml/2006/main">
              <a:ext uri="{FF2B5EF4-FFF2-40B4-BE49-F238E27FC236}">
                <a16:creationId xmlns:a16="http://schemas.microsoft.com/office/drawing/2014/main" id="{7398BF78-1EB6-45C5-A5D5-26226F0B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17" y="590550"/>
            <a:ext cx="10881366" cy="49848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900" b="1">
                <a:solidFill>
                  <a:srgbClr val="0B24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Possible future architecture</a:t>
            </a:r>
          </a:p>
        </p:txBody>
      </p:sp>
      <p:sp>
        <p:nvSpPr>
          <p:cNvPr id="706" name="Architecture and Streaming using Apache Flume">
            <a:extLst xmlns:a="http://schemas.openxmlformats.org/drawingml/2006/main">
              <a:ext uri="{FF2B5EF4-FFF2-40B4-BE49-F238E27FC236}">
                <a16:creationId xmlns:a16="http://schemas.microsoft.com/office/drawing/2014/main" id="{FB07A63F-53DF-4347-B86A-D18D0281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18" y="6515099"/>
            <a:ext cx="8481064" cy="21469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900">
                <a:solidFill>
                  <a:srgbClr val="566C7C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pic>
        <p:nvPicPr>
          <p:cNvPr id="727" name="image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20a3f45ea44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101" y="1431925"/>
            <a:ext cx="7233998" cy="48196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709" name="What the illustration adds">
            <a:extLst xmlns:a="http://schemas.openxmlformats.org/drawingml/2006/main">
              <a:ext uri="{FF2B5EF4-FFF2-40B4-BE49-F238E27FC236}">
                <a16:creationId xmlns:a16="http://schemas.microsoft.com/office/drawing/2014/main" id="{E0D35B01-B1AD-41A1-B976-2C2164CB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118" y="1438274"/>
            <a:ext cx="3318514" cy="35065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0877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What the illustration adds</a:t>
            </a:r>
          </a:p>
        </p:txBody>
      </p:sp>
      <p:sp>
        <p:nvSpPr>
          <p:cNvPr id="710" name="Physical sensors feed an IoT gateway. Cloud services could process and store readings, then notify operators.">
            <a:extLst xmlns:a="http://schemas.openxmlformats.org/drawingml/2006/main">
              <a:ext uri="{FF2B5EF4-FFF2-40B4-BE49-F238E27FC236}">
                <a16:creationId xmlns:a16="http://schemas.microsoft.com/office/drawing/2014/main" id="{DDC06C64-1128-4428-9957-C31D5356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118" y="2181225"/>
            <a:ext cx="3318514" cy="110037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700">
                <a:solidFill>
                  <a:srgbClr val="253D4D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Physical sensors feed an IoT gateway. Cloud services could process and store readings, then notify operators.</a:t>
            </a:r>
          </a:p>
        </p:txBody>
      </p:sp>
      <p:sp>
        <p:nvSpPr>
          <p:cNvPr id="711" name="Implemented in the ZIP">
            <a:extLst xmlns:a="http://schemas.openxmlformats.org/drawingml/2006/main">
              <a:ext uri="{FF2B5EF4-FFF2-40B4-BE49-F238E27FC236}">
                <a16:creationId xmlns:a16="http://schemas.microsoft.com/office/drawing/2014/main" id="{EF4B3618-7E80-4AD2-8E4B-49B7F1D5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118" y="3809999"/>
            <a:ext cx="3318514" cy="35065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0877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Current implementation</a:t>
            </a:r>
          </a:p>
        </p:txBody>
      </p:sp>
      <p:sp>
        <p:nvSpPr>
          <p:cNvPr id="712" name="PowerShell simulation, local Apache Flume ingestion, rolled files, and Streamlit monitoring.…">
            <a:extLst xmlns:a="http://schemas.openxmlformats.org/drawingml/2006/main">
              <a:ext uri="{FF2B5EF4-FFF2-40B4-BE49-F238E27FC236}">
                <a16:creationId xmlns:a16="http://schemas.microsoft.com/office/drawing/2014/main" id="{38E0CEE4-6177-4609-A893-56E01A79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118" y="4295774"/>
            <a:ext cx="3318514" cy="145639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>
                <a:solidFill>
                  <a:srgbClr val="253D4D"/>
                </a:solidFill>
                <a:latin typeface="Arial"/>
                <a:ea typeface="Arial"/>
                <a:cs typeface="Arial"/>
              </a:defRPr>
            </a:pPr>
            <a:r>
              <a:t>PowerShell simulation, local Apache Flume ingestion, rolled files, and Streamlit monitoring.</a:t>
            </a:r>
          </a:p>
          <a:p xmlns:a="http://schemas.openxmlformats.org/drawingml/2006/main">
            <a:pPr>
              <a:buNone/>
              <a:defRPr sz="1600">
                <a:solidFill>
                  <a:srgbClr val="253D4D"/>
                </a:solidFill>
                <a:latin typeface="Arial"/>
                <a:ea typeface="Arial"/>
                <a:cs typeface="Arial"/>
              </a:defRPr>
            </a:pPr>
          </a:p>
          <a:p xmlns:a="http://schemas.openxmlformats.org/drawingml/2006/main">
            <a:pPr>
              <a:buNone/>
              <a:defRPr sz="1600">
                <a:solidFill>
                  <a:srgbClr val="253D4D"/>
                </a:solidFill>
                <a:latin typeface="Arial"/>
                <a:ea typeface="Arial"/>
                <a:cs typeface="Arial"/>
              </a:defRPr>
            </a:pPr>
            <a:r>
              <a:t>Cloud services, ML, and external notifications are future scope.</a:t>
            </a:r>
          </a:p>
        </p:txBody>
      </p:sp>
      <p:sp>
        <p:nvSpPr>
          <p:cNvPr id="713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A90147A-8363-44A9-892C-5433C181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71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CF9175-2C3C-42FE-965D-9621AC03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71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153A89D-487B-435D-AAC9-017D3FAC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71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4AB151-9318-42F5-8DA7-67C039E5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717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5FB55CA-971F-4402-82EB-901ABCC8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718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3ECFD6A-F41E-4F48-97E4-294620A1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719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A035015-7700-4ECF-8F0A-89788B29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720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4A18D67-D27E-4CAC-9C68-4D678536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721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7348150-B9DE-4D05-9DD7-DFDFB2CE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00422437-DA56-4536-B67C-5BF47B16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073221095"/>
      </p:ext>
    </p:extLst>
  </p:cSld>
</p:sld>
</file>

<file path=ppt/slides/slide2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5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8CC7271-66B7-40FA-9C5D-4CC84934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72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333E93-E0BD-48C6-943B-E4BD8A10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727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AA8168A-029C-47EB-8176-22D242CD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7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5FA15C8-1F15-4914-B72F-22F2AB65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729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12C1D5F-DA7C-49FA-9077-B24427E9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730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E133B14-3454-43EE-BFED-038622FA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731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D44EDA6-D8FF-4F9F-8DA2-7DE8DA1C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732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C2048C-5225-43A9-92A7-4E8AE7A0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733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BD773E1-BBDF-43BF-98CD-994E36C3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4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EB651D1-1BE8-4838-8F71-4D7F2230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48"/>
            <a:ext cx="10668000" cy="45660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200"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Conclusions</a:t>
            </a:r>
          </a:p>
        </p:txBody>
      </p:sp>
      <p:sp>
        <p:nvSpPr>
          <p:cNvPr id="735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A2E7D5A9-C150-4154-BDC6-BE6D4A29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6400800"/>
            <a:ext cx="1097280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DEE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6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F4499F9-B3ED-409E-91DA-378321EE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099"/>
            <a:ext cx="4381500" cy="13554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00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sp>
        <p:nvSpPr>
          <p:cNvPr id="738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9C7A125-B4C9-41E4-B053-C05854DB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0" cy="25922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What the prototype demonstrates</a:t>
            </a:r>
          </a:p>
        </p:txBody>
      </p:sp>
      <p:sp>
        <p:nvSpPr>
          <p:cNvPr id="739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1D3F285-2E2A-4A79-B62D-268003A7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286375" cy="207738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indent="127000">
              <a:lnSpc>
                <a:spcPct val="102000"/>
              </a:lnSpc>
              <a:spcBef>
                <a:spcPts val="1200"/>
              </a:spcBef>
              <a:buNone/>
              <a:defRPr sz="1600">
                <a:solidFill>
                  <a:srgbClr val="182833"/>
                </a:solidFill>
                <a:latin typeface="Arial"/>
                <a:ea typeface="Arial"/>
                <a:cs typeface="Arial"/>
              </a:defRPr>
            </a:pPr>
            <a:r>
              <a:t>A configurable source, channel, and sink path carries six-field telemetry events</a:t>
            </a:r>
          </a:p>
          <a:p xmlns:a="http://schemas.openxmlformats.org/drawingml/2006/main">
            <a:pPr indent="127000">
              <a:lnSpc>
                <a:spcPct val="102000"/>
              </a:lnSpc>
              <a:spcBef>
                <a:spcPts val="1200"/>
              </a:spcBef>
              <a:buNone/>
              <a:defRPr sz="1600">
                <a:solidFill>
                  <a:srgbClr val="182833"/>
                </a:solidFill>
                <a:latin typeface="Arial"/>
                <a:ea typeface="Arial"/>
                <a:cs typeface="Arial"/>
              </a:defRPr>
            </a:pPr>
            <a:r>
              <a:t>The channel separates producer timing from sink writes</a:t>
            </a:r>
          </a:p>
          <a:p xmlns:a="http://schemas.openxmlformats.org/drawingml/2006/main">
            <a:pPr indent="127000">
              <a:lnSpc>
                <a:spcPct val="102000"/>
              </a:lnSpc>
              <a:spcBef>
                <a:spcPts val="1200"/>
              </a:spcBef>
              <a:buNone/>
              <a:defRPr sz="1600">
                <a:solidFill>
                  <a:srgbClr val="182833"/>
                </a:solidFill>
                <a:latin typeface="Arial"/>
                <a:ea typeface="Arial"/>
                <a:cs typeface="Arial"/>
              </a:defRPr>
            </a:pPr>
            <a:r>
              <a:t>The File Roll Sink creates 30-second landing files while ingestion continues</a:t>
            </a:r>
          </a:p>
          <a:p xmlns:a="http://schemas.openxmlformats.org/drawingml/2006/main">
            <a:pPr indent="127000">
              <a:lnSpc>
                <a:spcPct val="102000"/>
              </a:lnSpc>
              <a:spcBef>
                <a:spcPts val="1200"/>
              </a:spcBef>
              <a:buNone/>
              <a:defRPr sz="1600">
                <a:solidFill>
                  <a:srgbClr val="182833"/>
                </a:solidFill>
                <a:latin typeface="Arial"/>
                <a:ea typeface="Arial"/>
                <a:cs typeface="Arial"/>
              </a:defRPr>
            </a:pPr>
            <a:r>
              <a:t>The dashboard derives latest state and threshold alerts from the landed files</a:t>
            </a:r>
          </a:p>
        </p:txBody>
      </p:sp>
      <p:sp>
        <p:nvSpPr>
          <p:cNvPr id="740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B24AC01-C2A3-4E3B-B828-B01156E5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09700"/>
            <a:ext cx="4572000" cy="25922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b="1">
                <a:solidFill>
                  <a:srgbClr val="071B2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Recommended production changes</a:t>
            </a:r>
          </a:p>
        </p:txBody>
      </p:sp>
      <p:sp>
        <p:nvSpPr>
          <p:cNvPr id="741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C58B0E5-DFF2-4E99-8993-C8F90D11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62149"/>
            <a:ext cx="4762500" cy="231042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indent="127000">
              <a:lnSpc>
                <a:spcPct val="102000"/>
              </a:lnSpc>
              <a:spcBef>
                <a:spcPts val="1200"/>
              </a:spcBef>
              <a:buNone/>
              <a:defRPr sz="1600">
                <a:solidFill>
                  <a:srgbClr val="182833"/>
                </a:solidFill>
                <a:latin typeface="Arial"/>
                <a:ea typeface="Arial"/>
                <a:cs typeface="Arial"/>
              </a:defRPr>
            </a:pPr>
            <a:r>
              <a:t>Use durable buffering and a source with tracked offsets</a:t>
            </a:r>
          </a:p>
          <a:p xmlns:a="http://schemas.openxmlformats.org/drawingml/2006/main">
            <a:pPr indent="127000">
              <a:lnSpc>
                <a:spcPct val="102000"/>
              </a:lnSpc>
              <a:spcBef>
                <a:spcPts val="1200"/>
              </a:spcBef>
              <a:buNone/>
              <a:defRPr sz="1600">
                <a:solidFill>
                  <a:srgbClr val="182833"/>
                </a:solidFill>
                <a:latin typeface="Arial"/>
                <a:ea typeface="Arial"/>
                <a:cs typeface="Arial"/>
              </a:defRPr>
            </a:pPr>
            <a:r>
              <a:t>Read new output incrementally and deduplicate replayed records</a:t>
            </a:r>
          </a:p>
          <a:p xmlns:a="http://schemas.openxmlformats.org/drawingml/2006/main">
            <a:pPr indent="127000">
              <a:lnSpc>
                <a:spcPct val="102000"/>
              </a:lnSpc>
              <a:spcBef>
                <a:spcPts val="1200"/>
              </a:spcBef>
              <a:buNone/>
              <a:defRPr sz="1600">
                <a:solidFill>
                  <a:srgbClr val="182833"/>
                </a:solidFill>
                <a:latin typeface="Arial"/>
                <a:ea typeface="Arial"/>
                <a:cs typeface="Arial"/>
              </a:defRPr>
            </a:pPr>
            <a:r>
              <a:t>Reject invalid measurements and flag stale equipment data</a:t>
            </a:r>
          </a:p>
          <a:p xmlns:a="http://schemas.openxmlformats.org/drawingml/2006/main">
            <a:pPr indent="127000">
              <a:lnSpc>
                <a:spcPct val="102000"/>
              </a:lnSpc>
              <a:spcBef>
                <a:spcPts val="1200"/>
              </a:spcBef>
              <a:buNone/>
              <a:defRPr sz="1600">
                <a:solidFill>
                  <a:srgbClr val="182833"/>
                </a:solidFill>
                <a:latin typeface="Arial"/>
                <a:ea typeface="Arial"/>
                <a:cs typeface="Arial"/>
              </a:defRPr>
            </a:pPr>
            <a:r>
              <a:t>Externalize paths and limits, then add pipeline monitoring</a:t>
            </a:r>
          </a:p>
        </p:txBody>
      </p:sp>
      <p:sp>
        <p:nvSpPr>
          <p:cNvPr id="742" name="Rectangle: Rounded Corners 17">
            <a:extLst xmlns:a="http://schemas.openxmlformats.org/drawingml/2006/main">
              <a:ext uri="{FF2B5EF4-FFF2-40B4-BE49-F238E27FC236}">
                <a16:creationId xmlns:a16="http://schemas.microsoft.com/office/drawing/2014/main" id="{35F6EC9B-C48A-45CD-A44B-1A86EB4B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6299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1B2A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3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FE0C5DE-1357-4536-B4B4-79E216EA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19698"/>
            <a:ext cx="9906000" cy="20966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500" b="1">
                <a:solidFill>
                  <a:srgbClr val="3CC8C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Main inference</a:t>
            </a:r>
          </a:p>
        </p:txBody>
      </p:sp>
      <p:sp>
        <p:nvSpPr>
          <p:cNvPr id="744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F6047E4-8D6C-4738-B7AC-5BE6AC04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62598"/>
            <a:ext cx="9906000" cy="22195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Flume handles event ingestion. Python applies monitoring rules and presents asset status.</a:t>
            </a:r>
          </a:p>
        </p:txBody>
      </p: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512B9CC0-861F-44BD-8EE7-ACA812F7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458041433"/>
      </p:ext>
    </p:extLst>
  </p:cSld>
</p:sld>
</file>

<file path=ppt/slides/slide2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8" name="References and implementation sources">
            <a:extLst xmlns:a="http://schemas.openxmlformats.org/drawingml/2006/main">
              <a:ext uri="{FF2B5EF4-FFF2-40B4-BE49-F238E27FC236}">
                <a16:creationId xmlns:a16="http://schemas.microsoft.com/office/drawing/2014/main" id="{06ADBF18-5731-4C15-9047-014A12A5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17" y="590549"/>
            <a:ext cx="10862316" cy="51077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000" b="1">
                <a:solidFill>
                  <a:srgbClr val="0B243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References and implementation sources</a:t>
            </a:r>
          </a:p>
        </p:txBody>
      </p:sp>
      <p:sp>
        <p:nvSpPr>
          <p:cNvPr id="749" name="Architecture and Streaming using Apache Flume">
            <a:extLst xmlns:a="http://schemas.openxmlformats.org/drawingml/2006/main">
              <a:ext uri="{FF2B5EF4-FFF2-40B4-BE49-F238E27FC236}">
                <a16:creationId xmlns:a16="http://schemas.microsoft.com/office/drawing/2014/main" id="{D0038A24-7B79-4F2F-AA5E-F9543F68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18" y="6515099"/>
            <a:ext cx="7528563" cy="21469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900">
                <a:solidFill>
                  <a:srgbClr val="566C7C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 and Streaming using Apache Flume</a:t>
            </a:r>
          </a:p>
        </p:txBody>
      </p:sp>
      <p:sp>
        <p:nvSpPr>
          <p:cNvPr id="750" name="Implementation supplied with the assignment">
            <a:extLst xmlns:a="http://schemas.openxmlformats.org/drawingml/2006/main">
              <a:ext uri="{FF2B5EF4-FFF2-40B4-BE49-F238E27FC236}">
                <a16:creationId xmlns:a16="http://schemas.microsoft.com/office/drawing/2014/main" id="{0D9C401C-0041-49FA-8989-DC23308E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7" y="1466849"/>
            <a:ext cx="10728966" cy="35065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0877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Project source repository</a:t>
            </a:r>
          </a:p>
        </p:txBody>
      </p:sp>
      <p:sp>
        <p:nvSpPr>
          <p:cNvPr id="751" name="3rdsem/oilgas/simulate_sensor.ps1…">
            <a:extLst xmlns:a="http://schemas.openxmlformats.org/drawingml/2006/main">
              <a:ext uri="{FF2B5EF4-FFF2-40B4-BE49-F238E27FC236}">
                <a16:creationId xmlns:a16="http://schemas.microsoft.com/office/drawing/2014/main" id="{91638241-5E4C-43F2-A2A4-74CD4BF5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5000"/>
            <a:ext cx="10728960" cy="1295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725" u="sng">
                <a:solidFill>
                  <a:srgbClr val="0563C1"/>
                </a:solidFill>
                <a:latin typeface="Arial"/>
                <a:ea typeface="Arial"/>
                <a:cs typeface="Arial"/>
                <a:hlinkClick xmlns:r="http://schemas.openxmlformats.org/officeDocument/2006/relationships" r:id="Rca80851712ab4eeb"/>
              </a:rPr>
              <a:t>https://github.com/gchinar/apache-flume-oilgas-group2</a:t>
            </a:r>
          </a:p>
          <a:p xmlns:a="http://schemas.openxmlformats.org/drawingml/2006/main">
            <a:pPr algn="l"/>
            <a:r>
              <a:rPr sz="1725">
                <a:latin typeface="Arial"/>
                <a:ea typeface="Arial"/>
                <a:cs typeface="Arial"/>
              </a:rPr>
              <a:t>oilgas/simulate_sensor.ps1</a:t>
            </a:r>
          </a:p>
          <a:p xmlns:a="http://schemas.openxmlformats.org/drawingml/2006/main">
            <a:pPr algn="l"/>
            <a:r>
              <a:rPr sz="1725">
                <a:latin typeface="Arial"/>
                <a:ea typeface="Arial"/>
                <a:cs typeface="Arial"/>
              </a:rPr>
              <a:t>oilgas/app/dashboard.py</a:t>
            </a:r>
          </a:p>
          <a:p xmlns:a="http://schemas.openxmlformats.org/drawingml/2006/main">
            <a:pPr algn="l"/>
            <a:r>
              <a:rPr sz="1725">
                <a:latin typeface="Arial"/>
                <a:ea typeface="Arial"/>
                <a:cs typeface="Arial"/>
              </a:rPr>
              <a:t>apache-flume-1.11.0-bin/conf/oilgas.conf</a:t>
            </a:r>
          </a:p>
        </p:txBody>
      </p:sp>
      <p:sp>
        <p:nvSpPr>
          <p:cNvPr id="752" name="Archived run evidence">
            <a:extLst xmlns:a="http://schemas.openxmlformats.org/drawingml/2006/main">
              <a:ext uri="{FF2B5EF4-FFF2-40B4-BE49-F238E27FC236}">
                <a16:creationId xmlns:a16="http://schemas.microsoft.com/office/drawing/2014/main" id="{ADF3190F-BEDF-4833-BF38-F29B6EC8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7" y="3314699"/>
            <a:ext cx="10728966" cy="35065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0877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Sample data</a:t>
            </a:r>
          </a:p>
        </p:txBody>
      </p:sp>
      <p:sp>
        <p:nvSpPr>
          <p:cNvPr id="753" name="3rdsem/oilgas/sensor_stream.txt…">
            <a:extLst xmlns:a="http://schemas.openxmlformats.org/drawingml/2006/main">
              <a:ext uri="{FF2B5EF4-FFF2-40B4-BE49-F238E27FC236}">
                <a16:creationId xmlns:a16="http://schemas.microsoft.com/office/drawing/2014/main" id="{9F6F248C-1A5F-4027-96F2-363F59B5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7" y="3752849"/>
            <a:ext cx="10728966" cy="59237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>
                <a:solidFill>
                  <a:srgbClr val="253D4D"/>
                </a:solidFill>
                <a:latin typeface="Arial"/>
                <a:ea typeface="Arial"/>
                <a:cs typeface="Arial"/>
              </a:defRPr>
            </a:pPr>
            <a:r>
              <a:t>oilgas/sensor_stream.txt</a:t>
            </a:r>
          </a:p>
          <a:p xmlns:a="http://schemas.openxmlformats.org/drawingml/2006/main">
            <a:pPr>
              <a:buNone/>
              <a:defRPr sz="1700">
                <a:solidFill>
                  <a:srgbClr val="253D4D"/>
                </a:solidFill>
                <a:latin typeface="Arial"/>
                <a:ea typeface="Arial"/>
                <a:cs typeface="Arial"/>
              </a:defRPr>
            </a:pPr>
            <a:r>
              <a:t>oilgas/output/ (43 files)</a:t>
            </a:r>
          </a:p>
        </p:txBody>
      </p:sp>
      <p:sp>
        <p:nvSpPr>
          <p:cNvPr id="754" name="Apache Flume 1.11.0 User Guide">
            <a:extLst xmlns:a="http://schemas.openxmlformats.org/drawingml/2006/main">
              <a:ext uri="{FF2B5EF4-FFF2-40B4-BE49-F238E27FC236}">
                <a16:creationId xmlns:a16="http://schemas.microsoft.com/office/drawing/2014/main" id="{24874E68-9F10-4BBA-B29D-44E59FBF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7" y="5286374"/>
            <a:ext cx="10728966" cy="37522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000" b="1">
                <a:solidFill>
                  <a:srgbClr val="0877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Apache Flume 1.11.0 User Guide</a:t>
            </a:r>
          </a:p>
        </p:txBody>
      </p:sp>
      <p:sp>
        <p:nvSpPr>
          <p:cNvPr id="755" name="https://flume.apache.org/FlumeUserGuide">
            <a:extLst xmlns:a="http://schemas.openxmlformats.org/drawingml/2006/main">
              <a:ext uri="{FF2B5EF4-FFF2-40B4-BE49-F238E27FC236}">
                <a16:creationId xmlns:a16="http://schemas.microsoft.com/office/drawing/2014/main" id="{ECB26C6A-703E-4AC2-AF21-1EE01380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7" y="5743574"/>
            <a:ext cx="10728966" cy="35051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700">
                <a:solidFill>
                  <a:srgbClr val="1669A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 u="sng">
                <a:solidFill>
                  <a:srgbClr val="0563C1"/>
                </a:solidFill>
                <a:latin typeface="Arial"/>
                <a:ea typeface="Arial"/>
                <a:cs typeface="Arial"/>
                <a:hlinkClick xmlns:r="http://schemas.openxmlformats.org/officeDocument/2006/relationships" r:id="Rc5a971d1eced4098"/>
              </a:rPr>
              <a:t>https://flume.apache.org/FlumeUserGuide.html</a:t>
            </a:r>
          </a:p>
        </p:txBody>
      </p:sp>
      <p:sp>
        <p:nvSpPr>
          <p:cNvPr id="757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6ED2F1B-33DC-4F6E-A874-70A0A68C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Overview</a:t>
            </a:r>
          </a:p>
        </p:txBody>
      </p:sp>
      <p:sp>
        <p:nvSpPr>
          <p:cNvPr id="758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EED17D-4074-4155-8483-8A2C6C49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Architecture</a:t>
            </a:r>
          </a:p>
        </p:txBody>
      </p:sp>
      <p:sp>
        <p:nvSpPr>
          <p:cNvPr id="759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4EFE03-225B-4DC1-A979-B4634214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 &amp; config</a:t>
            </a:r>
          </a:p>
        </p:txBody>
      </p:sp>
      <p:sp>
        <p:nvSpPr>
          <p:cNvPr id="760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3486B9-2A8A-4902-96D6-32B731A6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Implementation</a:t>
            </a:r>
          </a:p>
        </p:txBody>
      </p:sp>
      <p:sp>
        <p:nvSpPr>
          <p:cNvPr id="761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71A11E0-853F-43AA-AB76-32823515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Use cases</a:t>
            </a:r>
          </a:p>
        </p:txBody>
      </p:sp>
      <p:sp>
        <p:nvSpPr>
          <p:cNvPr id="762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C37A05-4E9F-48D9-87F7-C43D26CA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Demonstration</a:t>
            </a:r>
          </a:p>
        </p:txBody>
      </p:sp>
      <p:sp>
        <p:nvSpPr>
          <p:cNvPr id="763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BF456F8-FDF1-4364-8412-A06143BD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>
                <a:solidFill>
                  <a:srgbClr val="9AA6A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Results</a:t>
            </a:r>
          </a:p>
        </p:txBody>
      </p:sp>
      <p:sp>
        <p:nvSpPr>
          <p:cNvPr id="764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E9D2A79-A704-4306-A1E7-5EBB3447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560"/>
            <a:ext cx="1371600" cy="12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800" b="1">
                <a:solidFill>
                  <a:srgbClr val="076C7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Conclusion</a:t>
            </a:r>
          </a:p>
        </p:txBody>
      </p:sp>
      <p:sp>
        <p:nvSpPr>
          <p:cNvPr id="765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1D265C5-563B-4AF7-88CD-57F30ED3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286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9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5128B585-9586-4949-AE1F-DFC3771B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66C7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66C7C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938666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2026-09-12T16:46:43.3720000Z</dcterms:created>
  <dcterms:modified xsi:type="dcterms:W3CDTF">2026-09-12T16:46:43.3720000Z</dcterms:modified>
</coreProperties>
</file>